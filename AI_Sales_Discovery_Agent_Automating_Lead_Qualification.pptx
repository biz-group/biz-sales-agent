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1128685" y="2071688"/>
            <a:ext cx="1000125" cy="1000125"/>
          </a:xfrm>
          <a:prstGeom prst="rect">
            <a:avLst/>
          </a:prstGeom>
        </p:spPr>
      </p:pic>
      <p:sp>
        <p:nvSpPr>
          <p:cNvPr id="4" name="Text 0"/>
          <p:cNvSpPr/>
          <p:nvPr/>
        </p:nvSpPr>
        <p:spPr>
          <a:xfrm>
            <a:off x="2414560" y="2060972"/>
            <a:ext cx="5600728" cy="623292"/>
          </a:xfrm>
          <a:prstGeom prst="rect">
            <a:avLst/>
          </a:prstGeom>
          <a:noFill/>
          <a:ln/>
        </p:spPr>
        <p:txBody>
          <a:bodyPr wrap="none" lIns="0" tIns="0" rIns="0" bIns="0" rtlCol="0" anchor="t">
            <a:spAutoFit/>
          </a:bodyPr>
          <a:lstStyle/>
          <a:p>
            <a:pPr algn="l" indent="0" marL="0">
              <a:lnSpc>
                <a:spcPts val="4300"/>
              </a:lnSpc>
              <a:buNone/>
            </a:pPr>
            <a:r>
              <a:rPr lang="en-US" sz="3294" b="1" dirty="0">
                <a:solidFill>
                  <a:srgbClr val="FFFFFF"/>
                </a:solidFill>
              </a:rPr>
              <a:t>AI Sales Discovery Agent</a:t>
            </a:r>
            <a:endParaRPr lang="en-US" sz="3294" dirty="0"/>
          </a:p>
        </p:txBody>
      </p:sp>
      <p:sp>
        <p:nvSpPr>
          <p:cNvPr id="5" name="Text 1"/>
          <p:cNvSpPr/>
          <p:nvPr/>
        </p:nvSpPr>
        <p:spPr>
          <a:xfrm>
            <a:off x="2414560" y="2769989"/>
            <a:ext cx="4175271" cy="312539"/>
          </a:xfrm>
          <a:prstGeom prst="rect">
            <a:avLst/>
          </a:prstGeom>
          <a:noFill/>
          <a:ln/>
        </p:spPr>
        <p:txBody>
          <a:bodyPr wrap="none" lIns="0" tIns="0" rIns="0" bIns="0" rtlCol="0" anchor="t">
            <a:spAutoFit/>
          </a:bodyPr>
          <a:lstStyle/>
          <a:p>
            <a:pPr algn="l" indent="0" marL="0">
              <a:lnSpc>
                <a:spcPts val="2200"/>
              </a:lnSpc>
              <a:buNone/>
            </a:pPr>
            <a:r>
              <a:rPr lang="en-US" sz="1704" spc="2" kern="0" dirty="0">
                <a:solidFill>
                  <a:srgbClr val="FF6600"/>
                </a:solidFill>
              </a:rPr>
              <a:t>Automating Lead Qualification</a:t>
            </a:r>
            <a:endParaRPr lang="en-US" sz="1704" dirty="0"/>
          </a:p>
        </p:txBody>
      </p:sp>
      <p:sp>
        <p:nvSpPr>
          <p:cNvPr id="6" name="Text 2"/>
          <p:cNvSpPr/>
          <p:nvPr/>
        </p:nvSpPr>
        <p:spPr>
          <a:xfrm>
            <a:off x="3608849" y="4845248"/>
            <a:ext cx="192630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Biz Group © 2026 | Powered by n8n</a:t>
            </a:r>
            <a:endParaRPr lang="en-US" sz="83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428625"/>
            <a:ext cx="8801100"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6600"/>
                </a:solidFill>
              </a:rPr>
              <a:t>Solving the Speed-to-Lead Challenge</a:t>
            </a:r>
            <a:endParaRPr lang="en-US" sz="2436" dirty="0"/>
          </a:p>
        </p:txBody>
      </p:sp>
      <p:sp>
        <p:nvSpPr>
          <p:cNvPr id="4" name="Text 1"/>
          <p:cNvSpPr/>
          <p:nvPr/>
        </p:nvSpPr>
        <p:spPr>
          <a:xfrm>
            <a:off x="342900" y="1066205"/>
            <a:ext cx="4143375"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The Lead Decay Problem</a:t>
            </a:r>
            <a:endParaRPr lang="en-US" sz="1193" dirty="0"/>
          </a:p>
        </p:txBody>
      </p:sp>
      <p:sp>
        <p:nvSpPr>
          <p:cNvPr id="5" name="Text 2"/>
          <p:cNvSpPr/>
          <p:nvPr/>
        </p:nvSpPr>
        <p:spPr>
          <a:xfrm>
            <a:off x="342900" y="1357313"/>
            <a:ext cx="4143375"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0E0E0"/>
                </a:solidFill>
              </a:rPr>
              <a:t>Website leads lose interest within minutes. Manual callback processes can take hours or days, leading to missed opportunities and revenue leakage.</a:t>
            </a:r>
            <a:endParaRPr lang="en-US" sz="942" dirty="0"/>
          </a:p>
        </p:txBody>
      </p:sp>
      <p:sp>
        <p:nvSpPr>
          <p:cNvPr id="6" name="Text 3"/>
          <p:cNvSpPr/>
          <p:nvPr/>
        </p:nvSpPr>
        <p:spPr>
          <a:xfrm>
            <a:off x="342900" y="2103053"/>
            <a:ext cx="4143375"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Instant Response Capability</a:t>
            </a:r>
            <a:endParaRPr lang="en-US" sz="1193" dirty="0"/>
          </a:p>
        </p:txBody>
      </p:sp>
      <p:sp>
        <p:nvSpPr>
          <p:cNvPr id="7" name="Text 4"/>
          <p:cNvSpPr/>
          <p:nvPr/>
        </p:nvSpPr>
        <p:spPr>
          <a:xfrm>
            <a:off x="342900" y="2394161"/>
            <a:ext cx="4143375"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0E0E0"/>
                </a:solidFill>
              </a:rPr>
              <a:t>The AI agent initiates contact the moment a lead submits interest, capturing prospects when they are most ready to discuss their needs.</a:t>
            </a:r>
            <a:endParaRPr lang="en-US" sz="942" dirty="0"/>
          </a:p>
        </p:txBody>
      </p:sp>
      <p:sp>
        <p:nvSpPr>
          <p:cNvPr id="8" name="Text 5"/>
          <p:cNvSpPr/>
          <p:nvPr/>
        </p:nvSpPr>
        <p:spPr>
          <a:xfrm>
            <a:off x="342900" y="3139901"/>
            <a:ext cx="4143375"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Unmatched Scale</a:t>
            </a:r>
            <a:endParaRPr lang="en-US" sz="1193" dirty="0"/>
          </a:p>
        </p:txBody>
      </p:sp>
      <p:sp>
        <p:nvSpPr>
          <p:cNvPr id="9" name="Text 6"/>
          <p:cNvSpPr/>
          <p:nvPr/>
        </p:nvSpPr>
        <p:spPr>
          <a:xfrm>
            <a:off x="342900" y="3431009"/>
            <a:ext cx="4143375"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0E0E0"/>
                </a:solidFill>
              </a:rPr>
              <a:t>Unlike human teams, the AI can handle unlimited concurrent calls with 100% adherence to company guidelines and quality standards.</a:t>
            </a:r>
            <a:endParaRPr lang="en-US" sz="942" dirty="0"/>
          </a:p>
        </p:txBody>
      </p:sp>
      <p:sp>
        <p:nvSpPr>
          <p:cNvPr id="10" name="Shape 7"/>
          <p:cNvSpPr/>
          <p:nvPr/>
        </p:nvSpPr>
        <p:spPr>
          <a:xfrm>
            <a:off x="4657725" y="1066205"/>
            <a:ext cx="4143375" cy="2371725"/>
          </a:xfrm>
          <a:prstGeom prst="rect">
            <a:avLst/>
          </a:prstGeom>
          <a:solidFill>
            <a:srgbClr val="FFFFFF">
              <a:alpha val="5000"/>
            </a:srgbClr>
          </a:solidFill>
          <a:ln/>
        </p:spPr>
      </p:sp>
      <p:pic>
        <p:nvPicPr>
          <p:cNvPr id="11" name="Image 1" descr="preencoded.png">    </p:cNvPr>
          <p:cNvPicPr>
            <a:picLocks noChangeAspect="1"/>
          </p:cNvPicPr>
          <p:nvPr/>
        </p:nvPicPr>
        <p:blipFill>
          <a:blip r:embed="rId2"/>
          <a:stretch>
            <a:fillRect/>
          </a:stretch>
        </p:blipFill>
        <p:spPr>
          <a:xfrm>
            <a:off x="4743450" y="1151930"/>
            <a:ext cx="3971925" cy="2286000"/>
          </a:xfrm>
          <a:prstGeom prst="rect">
            <a:avLst/>
          </a:prstGeom>
        </p:spPr>
      </p:pic>
      <p:sp>
        <p:nvSpPr>
          <p:cNvPr id="12" name="Text 8"/>
          <p:cNvSpPr/>
          <p:nvPr/>
        </p:nvSpPr>
        <p:spPr>
          <a:xfrm>
            <a:off x="4657725" y="3437930"/>
            <a:ext cx="4143375" cy="221456"/>
          </a:xfrm>
          <a:prstGeom prst="rect">
            <a:avLst/>
          </a:prstGeom>
          <a:noFill/>
          <a:ln/>
        </p:spPr>
        <p:txBody>
          <a:bodyPr wrap="square" lIns="0" tIns="102108" rIns="0" bIns="0" rtlCol="0" anchor="t">
            <a:spAutoFit/>
          </a:bodyPr>
          <a:lstStyle/>
          <a:p>
            <a:pPr algn="ctr" indent="0" marL="0">
              <a:lnSpc>
                <a:spcPts val="900"/>
              </a:lnSpc>
              <a:buNone/>
            </a:pPr>
            <a:r>
              <a:rPr lang="en-US" sz="727" dirty="0">
                <a:solidFill>
                  <a:srgbClr val="888888"/>
                </a:solidFill>
              </a:rPr>
              <a:t>Source: Lead Response Management Study</a:t>
            </a:r>
            <a:endParaRPr lang="en-US" sz="72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428625"/>
            <a:ext cx="8715375"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6600"/>
                </a:solidFill>
              </a:rPr>
              <a:t>Meet Your New AI Teammate</a:t>
            </a:r>
            <a:endParaRPr lang="en-US" sz="2436" dirty="0"/>
          </a:p>
        </p:txBody>
      </p:sp>
      <p:sp>
        <p:nvSpPr>
          <p:cNvPr id="4" name="Text 1"/>
          <p:cNvSpPr/>
          <p:nvPr/>
        </p:nvSpPr>
        <p:spPr>
          <a:xfrm>
            <a:off x="0" y="894755"/>
            <a:ext cx="9144000" cy="628650"/>
          </a:xfrm>
          <a:prstGeom prst="rect">
            <a:avLst/>
          </a:prstGeom>
          <a:noFill/>
          <a:ln/>
        </p:spPr>
        <p:txBody>
          <a:bodyPr wrap="square" lIns="510286" tIns="204089" rIns="510286" bIns="0" rtlCol="0" anchor="t">
            <a:spAutoFit/>
          </a:bodyPr>
          <a:lstStyle/>
          <a:p>
            <a:pPr algn="l" indent="0" marL="0">
              <a:lnSpc>
                <a:spcPts val="1800"/>
              </a:lnSpc>
              <a:buNone/>
            </a:pPr>
            <a:r>
              <a:rPr lang="en-US" sz="1050" dirty="0">
                <a:solidFill>
                  <a:srgbClr val="E0E0E0"/>
                </a:solidFill>
              </a:rPr>
              <a:t>Our AI agent is built to mirror the professionalism of the Biz Group sales team. It is transparent about its identity, secures consent, and uses adaptive conversation techniques to build rapport from the first second.</a:t>
            </a:r>
            <a:endParaRPr lang="en-US" sz="1050" dirty="0"/>
          </a:p>
        </p:txBody>
      </p:sp>
      <p:sp>
        <p:nvSpPr>
          <p:cNvPr id="5" name="Shape 2"/>
          <p:cNvSpPr/>
          <p:nvPr/>
        </p:nvSpPr>
        <p:spPr>
          <a:xfrm>
            <a:off x="553641" y="1809155"/>
            <a:ext cx="2500313" cy="1434108"/>
          </a:xfrm>
          <a:prstGeom prst="rect">
            <a:avLst/>
          </a:prstGeom>
          <a:solidFill>
            <a:srgbClr val="FF6600">
              <a:alpha val="5000"/>
            </a:srgbClr>
          </a:solidFill>
          <a:ln/>
        </p:spPr>
      </p:sp>
      <p:sp>
        <p:nvSpPr>
          <p:cNvPr id="6" name="Shape 3"/>
          <p:cNvSpPr/>
          <p:nvPr/>
        </p:nvSpPr>
        <p:spPr>
          <a:xfrm>
            <a:off x="553641" y="1809155"/>
            <a:ext cx="2500313" cy="28575"/>
          </a:xfrm>
          <a:prstGeom prst="rect">
            <a:avLst/>
          </a:prstGeom>
          <a:solidFill>
            <a:srgbClr val="FF6600"/>
          </a:solidFill>
          <a:ln/>
        </p:spPr>
      </p:sp>
      <p:pic>
        <p:nvPicPr>
          <p:cNvPr id="7" name="Image 1" descr="preencoded.png">    </p:cNvPr>
          <p:cNvPicPr>
            <a:picLocks noChangeAspect="1"/>
          </p:cNvPicPr>
          <p:nvPr/>
        </p:nvPicPr>
        <p:blipFill>
          <a:blip r:embed="rId2"/>
          <a:stretch>
            <a:fillRect/>
          </a:stretch>
        </p:blipFill>
        <p:spPr>
          <a:xfrm>
            <a:off x="1589484" y="1952030"/>
            <a:ext cx="428625" cy="342900"/>
          </a:xfrm>
          <a:prstGeom prst="rect">
            <a:avLst/>
          </a:prstGeom>
        </p:spPr>
      </p:pic>
      <p:sp>
        <p:nvSpPr>
          <p:cNvPr id="8" name="Text 4"/>
          <p:cNvSpPr/>
          <p:nvPr/>
        </p:nvSpPr>
        <p:spPr>
          <a:xfrm>
            <a:off x="553641" y="2380655"/>
            <a:ext cx="2500313" cy="233958"/>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FFFFFF"/>
                </a:solidFill>
              </a:rPr>
              <a:t>Learning Technology</a:t>
            </a:r>
            <a:endParaRPr lang="en-US" sz="1193" dirty="0"/>
          </a:p>
        </p:txBody>
      </p:sp>
      <p:sp>
        <p:nvSpPr>
          <p:cNvPr id="9" name="Text 5"/>
          <p:cNvSpPr/>
          <p:nvPr/>
        </p:nvSpPr>
        <p:spPr>
          <a:xfrm>
            <a:off x="553641" y="2700338"/>
            <a:ext cx="2500313" cy="514350"/>
          </a:xfrm>
          <a:prstGeom prst="rect">
            <a:avLst/>
          </a:prstGeom>
          <a:noFill/>
          <a:ln/>
        </p:spPr>
        <p:txBody>
          <a:bodyPr wrap="square" lIns="170053" tIns="0" rIns="170053" bIns="0" rtlCol="0" anchor="t">
            <a:spAutoFit/>
          </a:bodyPr>
          <a:lstStyle/>
          <a:p>
            <a:pPr algn="ctr" indent="0" marL="0">
              <a:lnSpc>
                <a:spcPts val="1400"/>
              </a:lnSpc>
              <a:buNone/>
            </a:pPr>
            <a:r>
              <a:rPr lang="en-US" sz="834" dirty="0">
                <a:solidFill>
                  <a:srgbClr val="E0E0E0"/>
                </a:solidFill>
              </a:rPr>
              <a:t>Focuses on platforms like Axonify for frontline enablement, microlearning, and performance tracking.</a:t>
            </a:r>
            <a:endParaRPr lang="en-US" sz="834" dirty="0"/>
          </a:p>
        </p:txBody>
      </p:sp>
      <p:sp>
        <p:nvSpPr>
          <p:cNvPr id="10" name="Shape 6"/>
          <p:cNvSpPr/>
          <p:nvPr/>
        </p:nvSpPr>
        <p:spPr>
          <a:xfrm>
            <a:off x="3321844" y="1809155"/>
            <a:ext cx="2500313" cy="1434108"/>
          </a:xfrm>
          <a:prstGeom prst="rect">
            <a:avLst/>
          </a:prstGeom>
          <a:solidFill>
            <a:srgbClr val="800080">
              <a:alpha val="5000"/>
            </a:srgbClr>
          </a:solidFill>
          <a:ln/>
        </p:spPr>
      </p:sp>
      <p:sp>
        <p:nvSpPr>
          <p:cNvPr id="11" name="Shape 7"/>
          <p:cNvSpPr/>
          <p:nvPr/>
        </p:nvSpPr>
        <p:spPr>
          <a:xfrm>
            <a:off x="3321844" y="1809155"/>
            <a:ext cx="2500313" cy="28575"/>
          </a:xfrm>
          <a:prstGeom prst="rect">
            <a:avLst/>
          </a:prstGeom>
          <a:solidFill>
            <a:srgbClr val="800080"/>
          </a:solidFill>
          <a:ln/>
        </p:spPr>
      </p:sp>
      <p:pic>
        <p:nvPicPr>
          <p:cNvPr id="12" name="Image 2" descr="preencoded.png">    </p:cNvPr>
          <p:cNvPicPr>
            <a:picLocks noChangeAspect="1"/>
          </p:cNvPicPr>
          <p:nvPr/>
        </p:nvPicPr>
        <p:blipFill>
          <a:blip r:embed="rId3"/>
          <a:stretch>
            <a:fillRect/>
          </a:stretch>
        </p:blipFill>
        <p:spPr>
          <a:xfrm>
            <a:off x="4357688" y="1952030"/>
            <a:ext cx="428625" cy="342900"/>
          </a:xfrm>
          <a:prstGeom prst="rect">
            <a:avLst/>
          </a:prstGeom>
        </p:spPr>
      </p:pic>
      <p:sp>
        <p:nvSpPr>
          <p:cNvPr id="13" name="Text 8"/>
          <p:cNvSpPr/>
          <p:nvPr/>
        </p:nvSpPr>
        <p:spPr>
          <a:xfrm>
            <a:off x="3321844" y="2380655"/>
            <a:ext cx="2500313" cy="233958"/>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FFFFFF"/>
                </a:solidFill>
              </a:rPr>
              <a:t>Training Programs</a:t>
            </a:r>
            <a:endParaRPr lang="en-US" sz="1193" dirty="0"/>
          </a:p>
        </p:txBody>
      </p:sp>
      <p:sp>
        <p:nvSpPr>
          <p:cNvPr id="14" name="Text 9"/>
          <p:cNvSpPr/>
          <p:nvPr/>
        </p:nvSpPr>
        <p:spPr>
          <a:xfrm>
            <a:off x="3321844" y="2700338"/>
            <a:ext cx="2500313" cy="514350"/>
          </a:xfrm>
          <a:prstGeom prst="rect">
            <a:avLst/>
          </a:prstGeom>
          <a:noFill/>
          <a:ln/>
        </p:spPr>
        <p:txBody>
          <a:bodyPr wrap="square" lIns="170053" tIns="0" rIns="170053" bIns="0" rtlCol="0" anchor="t">
            <a:spAutoFit/>
          </a:bodyPr>
          <a:lstStyle/>
          <a:p>
            <a:pPr algn="ctr" indent="0" marL="0">
              <a:lnSpc>
                <a:spcPts val="1400"/>
              </a:lnSpc>
              <a:buNone/>
            </a:pPr>
            <a:r>
              <a:rPr lang="en-US" sz="834" dirty="0">
                <a:solidFill>
                  <a:srgbClr val="E0E0E0"/>
                </a:solidFill>
              </a:rPr>
              <a:t>Covers leadership development, capability building, and structured workshops.</a:t>
            </a:r>
            <a:endParaRPr lang="en-US" sz="834" dirty="0"/>
          </a:p>
        </p:txBody>
      </p:sp>
      <p:sp>
        <p:nvSpPr>
          <p:cNvPr id="15" name="Shape 10"/>
          <p:cNvSpPr/>
          <p:nvPr/>
        </p:nvSpPr>
        <p:spPr>
          <a:xfrm>
            <a:off x="6090047" y="1809155"/>
            <a:ext cx="2500313" cy="1405533"/>
          </a:xfrm>
          <a:prstGeom prst="rect">
            <a:avLst/>
          </a:prstGeom>
          <a:solidFill>
            <a:srgbClr val="4CAF50">
              <a:alpha val="5000"/>
            </a:srgbClr>
          </a:solidFill>
          <a:ln/>
        </p:spPr>
      </p:sp>
      <p:sp>
        <p:nvSpPr>
          <p:cNvPr id="16" name="Shape 11"/>
          <p:cNvSpPr/>
          <p:nvPr/>
        </p:nvSpPr>
        <p:spPr>
          <a:xfrm>
            <a:off x="6090047" y="1809155"/>
            <a:ext cx="2500313" cy="28575"/>
          </a:xfrm>
          <a:prstGeom prst="rect">
            <a:avLst/>
          </a:prstGeom>
          <a:solidFill>
            <a:srgbClr val="4CAF50"/>
          </a:solidFill>
          <a:ln/>
        </p:spPr>
      </p:sp>
      <p:pic>
        <p:nvPicPr>
          <p:cNvPr id="17" name="Image 3" descr="preencoded.png">    </p:cNvPr>
          <p:cNvPicPr>
            <a:picLocks noChangeAspect="1"/>
          </p:cNvPicPr>
          <p:nvPr/>
        </p:nvPicPr>
        <p:blipFill>
          <a:blip r:embed="rId4"/>
          <a:stretch>
            <a:fillRect/>
          </a:stretch>
        </p:blipFill>
        <p:spPr>
          <a:xfrm>
            <a:off x="7125891" y="1952030"/>
            <a:ext cx="428625" cy="342900"/>
          </a:xfrm>
          <a:prstGeom prst="rect">
            <a:avLst/>
          </a:prstGeom>
        </p:spPr>
      </p:pic>
      <p:sp>
        <p:nvSpPr>
          <p:cNvPr id="18" name="Text 12"/>
          <p:cNvSpPr/>
          <p:nvPr/>
        </p:nvSpPr>
        <p:spPr>
          <a:xfrm>
            <a:off x="6090047" y="2380655"/>
            <a:ext cx="2500313" cy="233958"/>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FFFFFF"/>
                </a:solidFill>
              </a:rPr>
              <a:t>Team Building</a:t>
            </a:r>
            <a:endParaRPr lang="en-US" sz="1193" dirty="0"/>
          </a:p>
        </p:txBody>
      </p:sp>
      <p:sp>
        <p:nvSpPr>
          <p:cNvPr id="19" name="Text 13"/>
          <p:cNvSpPr/>
          <p:nvPr/>
        </p:nvSpPr>
        <p:spPr>
          <a:xfrm>
            <a:off x="6090047" y="2700338"/>
            <a:ext cx="2500313" cy="342900"/>
          </a:xfrm>
          <a:prstGeom prst="rect">
            <a:avLst/>
          </a:prstGeom>
          <a:noFill/>
          <a:ln/>
        </p:spPr>
        <p:txBody>
          <a:bodyPr wrap="square" lIns="170053" tIns="0" rIns="170053" bIns="0" rtlCol="0" anchor="t">
            <a:spAutoFit/>
          </a:bodyPr>
          <a:lstStyle/>
          <a:p>
            <a:pPr algn="ctr" indent="0" marL="0">
              <a:lnSpc>
                <a:spcPts val="1400"/>
              </a:lnSpc>
              <a:buNone/>
            </a:pPr>
            <a:r>
              <a:rPr lang="en-US" sz="834" dirty="0">
                <a:solidFill>
                  <a:srgbClr val="E0E0E0"/>
                </a:solidFill>
              </a:rPr>
              <a:t>Handles engagement events, culture initiatives, and team bonding activities.</a:t>
            </a:r>
            <a:endParaRPr lang="en-US" sz="83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428625"/>
            <a:ext cx="8715375"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6600"/>
                </a:solidFill>
              </a:rPr>
              <a:t>How It Works: The Discovery Flow</a:t>
            </a:r>
            <a:endParaRPr lang="en-US" sz="2436" dirty="0"/>
          </a:p>
        </p:txBody>
      </p:sp>
      <p:sp>
        <p:nvSpPr>
          <p:cNvPr id="4" name="Text 1"/>
          <p:cNvSpPr/>
          <p:nvPr/>
        </p:nvSpPr>
        <p:spPr>
          <a:xfrm>
            <a:off x="0" y="894755"/>
            <a:ext cx="9144000" cy="600075"/>
          </a:xfrm>
          <a:prstGeom prst="rect">
            <a:avLst/>
          </a:prstGeom>
          <a:noFill/>
          <a:ln/>
        </p:spPr>
        <p:txBody>
          <a:bodyPr wrap="square" lIns="510286" tIns="170053" rIns="510286" bIns="0" rtlCol="0" anchor="t">
            <a:spAutoFit/>
          </a:bodyPr>
          <a:lstStyle/>
          <a:p>
            <a:pPr algn="l" indent="0" marL="0">
              <a:lnSpc>
                <a:spcPts val="1800"/>
              </a:lnSpc>
              <a:buNone/>
            </a:pPr>
            <a:r>
              <a:rPr lang="en-US" sz="1050" dirty="0">
                <a:solidFill>
                  <a:srgbClr val="E0E0E0"/>
                </a:solidFill>
              </a:rPr>
              <a:t>The conversation follows a structured yet flexible flow, moving from initial consent to deep discovery and strategic value alignment.</a:t>
            </a:r>
            <a:endParaRPr lang="en-US" sz="1050" dirty="0"/>
          </a:p>
        </p:txBody>
      </p:sp>
      <p:sp>
        <p:nvSpPr>
          <p:cNvPr id="5" name="Shape 2"/>
          <p:cNvSpPr/>
          <p:nvPr/>
        </p:nvSpPr>
        <p:spPr>
          <a:xfrm>
            <a:off x="1143000" y="1780580"/>
            <a:ext cx="428625" cy="428625"/>
          </a:xfrm>
          <a:prstGeom prst="ellipse">
            <a:avLst/>
          </a:prstGeom>
          <a:solidFill>
            <a:srgbClr val="FF6600"/>
          </a:solidFill>
          <a:ln/>
        </p:spPr>
      </p:sp>
      <p:sp>
        <p:nvSpPr>
          <p:cNvPr id="6" name="Text 3"/>
          <p:cNvSpPr/>
          <p:nvPr/>
        </p:nvSpPr>
        <p:spPr>
          <a:xfrm>
            <a:off x="1143000" y="1780580"/>
            <a:ext cx="428625" cy="428625"/>
          </a:xfrm>
          <a:prstGeom prst="rect">
            <a:avLst/>
          </a:prstGeom>
          <a:noFill/>
          <a:ln/>
        </p:spPr>
        <p:txBody>
          <a:bodyPr wrap="square" lIns="0" tIns="0" rIns="0" bIns="0" rtlCol="0" anchor="ctr">
            <a:spAutoFit/>
          </a:bodyPr>
          <a:lstStyle/>
          <a:p>
            <a:pPr algn="ctr" indent="0" marL="0">
              <a:lnSpc>
                <a:spcPts val="1900"/>
              </a:lnSpc>
              <a:buNone/>
            </a:pPr>
            <a:r>
              <a:rPr lang="en-US" sz="1397" b="1" dirty="0">
                <a:solidFill>
                  <a:srgbClr val="FFFFFF"/>
                </a:solidFill>
              </a:rPr>
              <a:t>1</a:t>
            </a:r>
            <a:endParaRPr lang="en-US" sz="1397" dirty="0"/>
          </a:p>
        </p:txBody>
      </p:sp>
      <p:sp>
        <p:nvSpPr>
          <p:cNvPr id="7" name="Text 4"/>
          <p:cNvSpPr/>
          <p:nvPr/>
        </p:nvSpPr>
        <p:spPr>
          <a:xfrm>
            <a:off x="985698" y="2294930"/>
            <a:ext cx="743229"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FFFFFF"/>
                </a:solidFill>
              </a:rPr>
              <a:t>Consent</a:t>
            </a:r>
            <a:endParaRPr lang="en-US" sz="1090" dirty="0"/>
          </a:p>
        </p:txBody>
      </p:sp>
      <p:sp>
        <p:nvSpPr>
          <p:cNvPr id="8" name="Text 5"/>
          <p:cNvSpPr/>
          <p:nvPr/>
        </p:nvSpPr>
        <p:spPr>
          <a:xfrm>
            <a:off x="428625" y="2594967"/>
            <a:ext cx="1857375" cy="51435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E0E0E0"/>
                </a:solidFill>
              </a:rPr>
              <a:t>Transparent AI disclosure and recording consent upfront to maintain trust.</a:t>
            </a:r>
            <a:endParaRPr lang="en-US" sz="834" dirty="0"/>
          </a:p>
        </p:txBody>
      </p:sp>
      <p:sp>
        <p:nvSpPr>
          <p:cNvPr id="9" name="Shape 6"/>
          <p:cNvSpPr/>
          <p:nvPr/>
        </p:nvSpPr>
        <p:spPr>
          <a:xfrm>
            <a:off x="3286125" y="1780580"/>
            <a:ext cx="428625" cy="428625"/>
          </a:xfrm>
          <a:prstGeom prst="ellipse">
            <a:avLst/>
          </a:prstGeom>
          <a:solidFill>
            <a:srgbClr val="FF6600"/>
          </a:solidFill>
          <a:ln/>
        </p:spPr>
      </p:sp>
      <p:sp>
        <p:nvSpPr>
          <p:cNvPr id="10" name="Text 7"/>
          <p:cNvSpPr/>
          <p:nvPr/>
        </p:nvSpPr>
        <p:spPr>
          <a:xfrm>
            <a:off x="3286125" y="1780580"/>
            <a:ext cx="428625" cy="428625"/>
          </a:xfrm>
          <a:prstGeom prst="rect">
            <a:avLst/>
          </a:prstGeom>
          <a:noFill/>
          <a:ln/>
        </p:spPr>
        <p:txBody>
          <a:bodyPr wrap="square" lIns="0" tIns="0" rIns="0" bIns="0" rtlCol="0" anchor="ctr">
            <a:spAutoFit/>
          </a:bodyPr>
          <a:lstStyle/>
          <a:p>
            <a:pPr algn="ctr" indent="0" marL="0">
              <a:lnSpc>
                <a:spcPts val="1900"/>
              </a:lnSpc>
              <a:buNone/>
            </a:pPr>
            <a:r>
              <a:rPr lang="en-US" sz="1397" b="1" dirty="0">
                <a:solidFill>
                  <a:srgbClr val="FFFFFF"/>
                </a:solidFill>
              </a:rPr>
              <a:t>2</a:t>
            </a:r>
            <a:endParaRPr lang="en-US" sz="1397" dirty="0"/>
          </a:p>
        </p:txBody>
      </p:sp>
      <p:sp>
        <p:nvSpPr>
          <p:cNvPr id="11" name="Text 8"/>
          <p:cNvSpPr/>
          <p:nvPr/>
        </p:nvSpPr>
        <p:spPr>
          <a:xfrm>
            <a:off x="3062185" y="2294930"/>
            <a:ext cx="876505"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FFFFFF"/>
                </a:solidFill>
              </a:rPr>
              <a:t>Discovery</a:t>
            </a:r>
            <a:endParaRPr lang="en-US" sz="1090" dirty="0"/>
          </a:p>
        </p:txBody>
      </p:sp>
      <p:sp>
        <p:nvSpPr>
          <p:cNvPr id="12" name="Text 9"/>
          <p:cNvSpPr/>
          <p:nvPr/>
        </p:nvSpPr>
        <p:spPr>
          <a:xfrm>
            <a:off x="2571750" y="2594967"/>
            <a:ext cx="1857375" cy="51435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E0E0E0"/>
                </a:solidFill>
              </a:rPr>
              <a:t>Adaptive questioning to explore needs, audience, and current frustrations.</a:t>
            </a:r>
            <a:endParaRPr lang="en-US" sz="834" dirty="0"/>
          </a:p>
        </p:txBody>
      </p:sp>
      <p:sp>
        <p:nvSpPr>
          <p:cNvPr id="13" name="Shape 10"/>
          <p:cNvSpPr/>
          <p:nvPr/>
        </p:nvSpPr>
        <p:spPr>
          <a:xfrm>
            <a:off x="5429250" y="1780580"/>
            <a:ext cx="428625" cy="428625"/>
          </a:xfrm>
          <a:prstGeom prst="ellipse">
            <a:avLst/>
          </a:prstGeom>
          <a:solidFill>
            <a:srgbClr val="FF6600"/>
          </a:solidFill>
          <a:ln/>
        </p:spPr>
      </p:sp>
      <p:sp>
        <p:nvSpPr>
          <p:cNvPr id="14" name="Text 11"/>
          <p:cNvSpPr/>
          <p:nvPr/>
        </p:nvSpPr>
        <p:spPr>
          <a:xfrm>
            <a:off x="5429250" y="1780580"/>
            <a:ext cx="428625" cy="428625"/>
          </a:xfrm>
          <a:prstGeom prst="rect">
            <a:avLst/>
          </a:prstGeom>
          <a:noFill/>
          <a:ln/>
        </p:spPr>
        <p:txBody>
          <a:bodyPr wrap="square" lIns="0" tIns="0" rIns="0" bIns="0" rtlCol="0" anchor="ctr">
            <a:spAutoFit/>
          </a:bodyPr>
          <a:lstStyle/>
          <a:p>
            <a:pPr algn="ctr" indent="0" marL="0">
              <a:lnSpc>
                <a:spcPts val="1900"/>
              </a:lnSpc>
              <a:buNone/>
            </a:pPr>
            <a:r>
              <a:rPr lang="en-US" sz="1397" b="1" dirty="0">
                <a:solidFill>
                  <a:srgbClr val="FFFFFF"/>
                </a:solidFill>
              </a:rPr>
              <a:t>3</a:t>
            </a:r>
            <a:endParaRPr lang="en-US" sz="1397" dirty="0"/>
          </a:p>
        </p:txBody>
      </p:sp>
      <p:sp>
        <p:nvSpPr>
          <p:cNvPr id="15" name="Text 12"/>
          <p:cNvSpPr/>
          <p:nvPr/>
        </p:nvSpPr>
        <p:spPr>
          <a:xfrm>
            <a:off x="5018205" y="2294930"/>
            <a:ext cx="1250714"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FFFFFF"/>
                </a:solidFill>
              </a:rPr>
              <a:t>Qualification</a:t>
            </a:r>
            <a:endParaRPr lang="en-US" sz="1090" dirty="0"/>
          </a:p>
        </p:txBody>
      </p:sp>
      <p:sp>
        <p:nvSpPr>
          <p:cNvPr id="16" name="Text 13"/>
          <p:cNvSpPr/>
          <p:nvPr/>
        </p:nvSpPr>
        <p:spPr>
          <a:xfrm>
            <a:off x="4714875" y="2594967"/>
            <a:ext cx="1857375" cy="51435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E0E0E0"/>
                </a:solidFill>
              </a:rPr>
              <a:t>Conversational exploration of scope, stakeholders, timeline, and budget.</a:t>
            </a:r>
            <a:endParaRPr lang="en-US" sz="834" dirty="0"/>
          </a:p>
        </p:txBody>
      </p:sp>
      <p:sp>
        <p:nvSpPr>
          <p:cNvPr id="17" name="Shape 14"/>
          <p:cNvSpPr/>
          <p:nvPr/>
        </p:nvSpPr>
        <p:spPr>
          <a:xfrm>
            <a:off x="7572375" y="1780580"/>
            <a:ext cx="428625" cy="428625"/>
          </a:xfrm>
          <a:prstGeom prst="ellipse">
            <a:avLst/>
          </a:prstGeom>
          <a:solidFill>
            <a:srgbClr val="FF6600"/>
          </a:solidFill>
          <a:ln/>
        </p:spPr>
      </p:sp>
      <p:sp>
        <p:nvSpPr>
          <p:cNvPr id="18" name="Text 15"/>
          <p:cNvSpPr/>
          <p:nvPr/>
        </p:nvSpPr>
        <p:spPr>
          <a:xfrm>
            <a:off x="7572375" y="1780580"/>
            <a:ext cx="428625" cy="428625"/>
          </a:xfrm>
          <a:prstGeom prst="rect">
            <a:avLst/>
          </a:prstGeom>
          <a:noFill/>
          <a:ln/>
        </p:spPr>
        <p:txBody>
          <a:bodyPr wrap="square" lIns="0" tIns="0" rIns="0" bIns="0" rtlCol="0" anchor="ctr">
            <a:spAutoFit/>
          </a:bodyPr>
          <a:lstStyle/>
          <a:p>
            <a:pPr algn="ctr" indent="0" marL="0">
              <a:lnSpc>
                <a:spcPts val="1900"/>
              </a:lnSpc>
              <a:buNone/>
            </a:pPr>
            <a:r>
              <a:rPr lang="en-US" sz="1397" b="1" dirty="0">
                <a:solidFill>
                  <a:srgbClr val="FFFFFF"/>
                </a:solidFill>
              </a:rPr>
              <a:t>4</a:t>
            </a:r>
            <a:endParaRPr lang="en-US" sz="1397" dirty="0"/>
          </a:p>
        </p:txBody>
      </p:sp>
      <p:sp>
        <p:nvSpPr>
          <p:cNvPr id="19" name="Text 16"/>
          <p:cNvSpPr/>
          <p:nvPr/>
        </p:nvSpPr>
        <p:spPr>
          <a:xfrm>
            <a:off x="7309200" y="2294930"/>
            <a:ext cx="954946"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FFFFFF"/>
                </a:solidFill>
              </a:rPr>
              <a:t>Alignment</a:t>
            </a:r>
            <a:endParaRPr lang="en-US" sz="1090" dirty="0"/>
          </a:p>
        </p:txBody>
      </p:sp>
      <p:sp>
        <p:nvSpPr>
          <p:cNvPr id="20" name="Text 17"/>
          <p:cNvSpPr/>
          <p:nvPr/>
        </p:nvSpPr>
        <p:spPr>
          <a:xfrm>
            <a:off x="6858000" y="2594967"/>
            <a:ext cx="1857375" cy="51435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E0E0E0"/>
                </a:solidFill>
              </a:rPr>
              <a:t>Reflecting back goals and pain points to ensure strategic value alignment.</a:t>
            </a:r>
            <a:endParaRPr lang="en-US" sz="83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428625"/>
            <a:ext cx="8715375"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6600"/>
                </a:solidFill>
              </a:rPr>
              <a:t>Handling Objections with Precision</a:t>
            </a:r>
            <a:endParaRPr lang="en-US" sz="2436" dirty="0"/>
          </a:p>
        </p:txBody>
      </p:sp>
      <p:sp>
        <p:nvSpPr>
          <p:cNvPr id="4" name="Text 1"/>
          <p:cNvSpPr/>
          <p:nvPr/>
        </p:nvSpPr>
        <p:spPr>
          <a:xfrm>
            <a:off x="428625" y="1180505"/>
            <a:ext cx="1745419" cy="358973"/>
          </a:xfrm>
          <a:prstGeom prst="rect">
            <a:avLst/>
          </a:prstGeom>
          <a:noFill/>
          <a:ln/>
        </p:spPr>
        <p:txBody>
          <a:bodyPr wrap="none" lIns="0" tIns="0" rIns="0" bIns="85090" rtlCol="0" anchor="t">
            <a:spAutoFit/>
          </a:bodyPr>
          <a:lstStyle/>
          <a:p>
            <a:pPr algn="l" indent="0" marL="0">
              <a:lnSpc>
                <a:spcPts val="1900"/>
              </a:lnSpc>
              <a:buNone/>
            </a:pPr>
            <a:r>
              <a:rPr lang="en-US" sz="1397" b="1" dirty="0">
                <a:solidFill>
                  <a:srgbClr val="FFFFFF"/>
                </a:solidFill>
              </a:rPr>
              <a:t>The ARC Principle</a:t>
            </a:r>
            <a:endParaRPr lang="en-US" sz="1397" dirty="0"/>
          </a:p>
        </p:txBody>
      </p:sp>
      <p:sp>
        <p:nvSpPr>
          <p:cNvPr id="5" name="Text 2"/>
          <p:cNvSpPr/>
          <p:nvPr/>
        </p:nvSpPr>
        <p:spPr>
          <a:xfrm>
            <a:off x="428625" y="1682353"/>
            <a:ext cx="186714" cy="257175"/>
          </a:xfrm>
          <a:prstGeom prst="rect">
            <a:avLst/>
          </a:prstGeom>
          <a:noFill/>
          <a:ln/>
        </p:spPr>
        <p:txBody>
          <a:bodyPr wrap="none" lIns="0" tIns="0" rIns="0" bIns="0" rtlCol="0" anchor="t">
            <a:spAutoFit/>
          </a:bodyPr>
          <a:lstStyle/>
          <a:p>
            <a:pPr algn="l" indent="0" marL="0">
              <a:lnSpc>
                <a:spcPts val="2000"/>
              </a:lnSpc>
              <a:buNone/>
            </a:pPr>
            <a:r>
              <a:rPr lang="en-US" sz="1808" b="1" dirty="0">
                <a:solidFill>
                  <a:srgbClr val="FF6600"/>
                </a:solidFill>
              </a:rPr>
              <a:t>A</a:t>
            </a:r>
            <a:endParaRPr lang="en-US" sz="1808" dirty="0"/>
          </a:p>
        </p:txBody>
      </p:sp>
      <p:sp>
        <p:nvSpPr>
          <p:cNvPr id="6" name="Text 3"/>
          <p:cNvSpPr/>
          <p:nvPr/>
        </p:nvSpPr>
        <p:spPr>
          <a:xfrm>
            <a:off x="758214" y="1682353"/>
            <a:ext cx="2870811"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FFFFFF"/>
                </a:solidFill>
              </a:rPr>
              <a:t>Acknowledge</a:t>
            </a:r>
            <a:endParaRPr lang="en-US" sz="987" dirty="0"/>
          </a:p>
        </p:txBody>
      </p:sp>
      <p:sp>
        <p:nvSpPr>
          <p:cNvPr id="7" name="Text 4"/>
          <p:cNvSpPr/>
          <p:nvPr/>
        </p:nvSpPr>
        <p:spPr>
          <a:xfrm>
            <a:off x="758214" y="1919883"/>
            <a:ext cx="2550682" cy="175022"/>
          </a:xfrm>
          <a:prstGeom prst="rect">
            <a:avLst/>
          </a:prstGeom>
          <a:noFill/>
          <a:ln/>
        </p:spPr>
        <p:txBody>
          <a:bodyPr wrap="none" lIns="0" tIns="0" rIns="0" bIns="0" rtlCol="0" anchor="t">
            <a:spAutoFit/>
          </a:bodyPr>
          <a:lstStyle/>
          <a:p>
            <a:pPr algn="l" indent="0" marL="0">
              <a:lnSpc>
                <a:spcPts val="1400"/>
              </a:lnSpc>
              <a:buNone/>
            </a:pPr>
            <a:r>
              <a:rPr lang="en-US" sz="942" dirty="0">
                <a:solidFill>
                  <a:srgbClr val="E0E0E0"/>
                </a:solidFill>
              </a:rPr>
              <a:t>Validate the lead's concern immediately to</a:t>
            </a:r>
            <a:endParaRPr lang="en-US" sz="942" dirty="0"/>
          </a:p>
        </p:txBody>
      </p:sp>
      <p:sp>
        <p:nvSpPr>
          <p:cNvPr id="8" name="Text 5"/>
          <p:cNvSpPr/>
          <p:nvPr/>
        </p:nvSpPr>
        <p:spPr>
          <a:xfrm>
            <a:off x="758214" y="2099900"/>
            <a:ext cx="2107825" cy="175022"/>
          </a:xfrm>
          <a:prstGeom prst="rect">
            <a:avLst/>
          </a:prstGeom>
          <a:noFill/>
          <a:ln/>
        </p:spPr>
        <p:txBody>
          <a:bodyPr wrap="none" lIns="0" tIns="0" rIns="0" bIns="0" rtlCol="0" anchor="t">
            <a:spAutoFit/>
          </a:bodyPr>
          <a:lstStyle/>
          <a:p>
            <a:pPr algn="l" indent="0" marL="0">
              <a:lnSpc>
                <a:spcPts val="1400"/>
              </a:lnSpc>
              <a:buNone/>
            </a:pPr>
            <a:r>
              <a:rPr lang="en-US" sz="942" dirty="0">
                <a:solidFill>
                  <a:srgbClr val="E0E0E0"/>
                </a:solidFill>
              </a:rPr>
              <a:t>build rapport and lower resistance.</a:t>
            </a:r>
            <a:endParaRPr lang="en-US" sz="942" dirty="0"/>
          </a:p>
        </p:txBody>
      </p:sp>
      <p:sp>
        <p:nvSpPr>
          <p:cNvPr id="9" name="Text 6"/>
          <p:cNvSpPr/>
          <p:nvPr/>
        </p:nvSpPr>
        <p:spPr>
          <a:xfrm>
            <a:off x="428625" y="2456724"/>
            <a:ext cx="174129" cy="257175"/>
          </a:xfrm>
          <a:prstGeom prst="rect">
            <a:avLst/>
          </a:prstGeom>
          <a:noFill/>
          <a:ln/>
        </p:spPr>
        <p:txBody>
          <a:bodyPr wrap="none" lIns="0" tIns="0" rIns="0" bIns="0" rtlCol="0" anchor="t">
            <a:spAutoFit/>
          </a:bodyPr>
          <a:lstStyle/>
          <a:p>
            <a:pPr algn="l" indent="0" marL="0">
              <a:lnSpc>
                <a:spcPts val="2000"/>
              </a:lnSpc>
              <a:buNone/>
            </a:pPr>
            <a:r>
              <a:rPr lang="en-US" sz="1808" b="1" dirty="0">
                <a:solidFill>
                  <a:srgbClr val="FF6600"/>
                </a:solidFill>
              </a:rPr>
              <a:t>R</a:t>
            </a:r>
            <a:endParaRPr lang="en-US" sz="1808" dirty="0"/>
          </a:p>
        </p:txBody>
      </p:sp>
      <p:sp>
        <p:nvSpPr>
          <p:cNvPr id="10" name="Text 7"/>
          <p:cNvSpPr/>
          <p:nvPr/>
        </p:nvSpPr>
        <p:spPr>
          <a:xfrm>
            <a:off x="745629" y="2456724"/>
            <a:ext cx="2883396"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FFFFFF"/>
                </a:solidFill>
              </a:rPr>
              <a:t>Clarify</a:t>
            </a:r>
            <a:endParaRPr lang="en-US" sz="987" dirty="0"/>
          </a:p>
        </p:txBody>
      </p:sp>
      <p:sp>
        <p:nvSpPr>
          <p:cNvPr id="11" name="Text 8"/>
          <p:cNvSpPr/>
          <p:nvPr/>
        </p:nvSpPr>
        <p:spPr>
          <a:xfrm>
            <a:off x="745629" y="2694254"/>
            <a:ext cx="2789076" cy="175022"/>
          </a:xfrm>
          <a:prstGeom prst="rect">
            <a:avLst/>
          </a:prstGeom>
          <a:noFill/>
          <a:ln/>
        </p:spPr>
        <p:txBody>
          <a:bodyPr wrap="none" lIns="0" tIns="0" rIns="0" bIns="0" rtlCol="0" anchor="t">
            <a:spAutoFit/>
          </a:bodyPr>
          <a:lstStyle/>
          <a:p>
            <a:pPr algn="l" indent="0" marL="0">
              <a:lnSpc>
                <a:spcPts val="1400"/>
              </a:lnSpc>
              <a:buNone/>
            </a:pPr>
            <a:r>
              <a:rPr lang="en-US" sz="942" dirty="0">
                <a:solidFill>
                  <a:srgbClr val="E0E0E0"/>
                </a:solidFill>
              </a:rPr>
              <a:t>Ask a gentle follow-up question to understand</a:t>
            </a:r>
            <a:endParaRPr lang="en-US" sz="942" dirty="0"/>
          </a:p>
        </p:txBody>
      </p:sp>
      <p:sp>
        <p:nvSpPr>
          <p:cNvPr id="12" name="Text 9"/>
          <p:cNvSpPr/>
          <p:nvPr/>
        </p:nvSpPr>
        <p:spPr>
          <a:xfrm>
            <a:off x="745629" y="2874271"/>
            <a:ext cx="1881625" cy="175022"/>
          </a:xfrm>
          <a:prstGeom prst="rect">
            <a:avLst/>
          </a:prstGeom>
          <a:noFill/>
          <a:ln/>
        </p:spPr>
        <p:txBody>
          <a:bodyPr wrap="none" lIns="0" tIns="0" rIns="0" bIns="0" rtlCol="0" anchor="t">
            <a:spAutoFit/>
          </a:bodyPr>
          <a:lstStyle/>
          <a:p>
            <a:pPr algn="l" indent="0" marL="0">
              <a:lnSpc>
                <a:spcPts val="1400"/>
              </a:lnSpc>
              <a:buNone/>
            </a:pPr>
            <a:r>
              <a:rPr lang="en-US" sz="942" dirty="0">
                <a:solidFill>
                  <a:srgbClr val="E0E0E0"/>
                </a:solidFill>
              </a:rPr>
              <a:t>the root cause of the objection.</a:t>
            </a:r>
            <a:endParaRPr lang="en-US" sz="942" dirty="0"/>
          </a:p>
        </p:txBody>
      </p:sp>
      <p:sp>
        <p:nvSpPr>
          <p:cNvPr id="13" name="Text 10"/>
          <p:cNvSpPr/>
          <p:nvPr/>
        </p:nvSpPr>
        <p:spPr>
          <a:xfrm>
            <a:off x="428625" y="3231096"/>
            <a:ext cx="166929" cy="257175"/>
          </a:xfrm>
          <a:prstGeom prst="rect">
            <a:avLst/>
          </a:prstGeom>
          <a:noFill/>
          <a:ln/>
        </p:spPr>
        <p:txBody>
          <a:bodyPr wrap="none" lIns="0" tIns="0" rIns="0" bIns="0" rtlCol="0" anchor="t">
            <a:spAutoFit/>
          </a:bodyPr>
          <a:lstStyle/>
          <a:p>
            <a:pPr algn="l" indent="0" marL="0">
              <a:lnSpc>
                <a:spcPts val="2000"/>
              </a:lnSpc>
              <a:buNone/>
            </a:pPr>
            <a:r>
              <a:rPr lang="en-US" sz="1808" b="1" dirty="0">
                <a:solidFill>
                  <a:srgbClr val="FF6600"/>
                </a:solidFill>
              </a:rPr>
              <a:t>C</a:t>
            </a:r>
            <a:endParaRPr lang="en-US" sz="1808" dirty="0"/>
          </a:p>
        </p:txBody>
      </p:sp>
      <p:sp>
        <p:nvSpPr>
          <p:cNvPr id="14" name="Text 11"/>
          <p:cNvSpPr/>
          <p:nvPr/>
        </p:nvSpPr>
        <p:spPr>
          <a:xfrm>
            <a:off x="738429" y="3231096"/>
            <a:ext cx="2890596"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FFFFFF"/>
                </a:solidFill>
              </a:rPr>
              <a:t>Redirect</a:t>
            </a:r>
            <a:endParaRPr lang="en-US" sz="987" dirty="0"/>
          </a:p>
        </p:txBody>
      </p:sp>
      <p:sp>
        <p:nvSpPr>
          <p:cNvPr id="15" name="Text 12"/>
          <p:cNvSpPr/>
          <p:nvPr/>
        </p:nvSpPr>
        <p:spPr>
          <a:xfrm>
            <a:off x="738429" y="3468625"/>
            <a:ext cx="2617543" cy="175022"/>
          </a:xfrm>
          <a:prstGeom prst="rect">
            <a:avLst/>
          </a:prstGeom>
          <a:noFill/>
          <a:ln/>
        </p:spPr>
        <p:txBody>
          <a:bodyPr wrap="none" lIns="0" tIns="0" rIns="0" bIns="0" rtlCol="0" anchor="t">
            <a:spAutoFit/>
          </a:bodyPr>
          <a:lstStyle/>
          <a:p>
            <a:pPr algn="l" indent="0" marL="0">
              <a:lnSpc>
                <a:spcPts val="1400"/>
              </a:lnSpc>
              <a:buNone/>
            </a:pPr>
            <a:r>
              <a:rPr lang="en-US" sz="942" dirty="0">
                <a:solidFill>
                  <a:srgbClr val="E0E0E0"/>
                </a:solidFill>
              </a:rPr>
              <a:t>Pivot the conversation back to the value Biz</a:t>
            </a:r>
            <a:endParaRPr lang="en-US" sz="942" dirty="0"/>
          </a:p>
        </p:txBody>
      </p:sp>
      <p:sp>
        <p:nvSpPr>
          <p:cNvPr id="16" name="Text 13"/>
          <p:cNvSpPr/>
          <p:nvPr/>
        </p:nvSpPr>
        <p:spPr>
          <a:xfrm>
            <a:off x="738429" y="3648642"/>
            <a:ext cx="2269592" cy="175022"/>
          </a:xfrm>
          <a:prstGeom prst="rect">
            <a:avLst/>
          </a:prstGeom>
          <a:noFill/>
          <a:ln/>
        </p:spPr>
        <p:txBody>
          <a:bodyPr wrap="none" lIns="0" tIns="0" rIns="0" bIns="0" rtlCol="0" anchor="t">
            <a:spAutoFit/>
          </a:bodyPr>
          <a:lstStyle/>
          <a:p>
            <a:pPr algn="l" indent="0" marL="0">
              <a:lnSpc>
                <a:spcPts val="1400"/>
              </a:lnSpc>
              <a:buNone/>
            </a:pPr>
            <a:r>
              <a:rPr lang="en-US" sz="942" dirty="0">
                <a:solidFill>
                  <a:srgbClr val="E0E0E0"/>
                </a:solidFill>
              </a:rPr>
              <a:t>Group provides for their specific pain.</a:t>
            </a:r>
            <a:endParaRPr lang="en-US" sz="942" dirty="0"/>
          </a:p>
        </p:txBody>
      </p:sp>
      <p:sp>
        <p:nvSpPr>
          <p:cNvPr id="17" name="Shape 14"/>
          <p:cNvSpPr/>
          <p:nvPr/>
        </p:nvSpPr>
        <p:spPr>
          <a:xfrm>
            <a:off x="3914775" y="1180505"/>
            <a:ext cx="4800600" cy="2824962"/>
          </a:xfrm>
          <a:prstGeom prst="rect">
            <a:avLst/>
          </a:prstGeom>
          <a:solidFill>
            <a:srgbClr val="FFFFFF">
              <a:alpha val="3000"/>
            </a:srgbClr>
          </a:solidFill>
          <a:ln/>
        </p:spPr>
      </p:sp>
      <p:sp>
        <p:nvSpPr>
          <p:cNvPr id="18" name="Text 15"/>
          <p:cNvSpPr/>
          <p:nvPr/>
        </p:nvSpPr>
        <p:spPr>
          <a:xfrm>
            <a:off x="4057650" y="1323380"/>
            <a:ext cx="1354438" cy="237530"/>
          </a:xfrm>
          <a:prstGeom prst="rect">
            <a:avLst/>
          </a:prstGeom>
          <a:noFill/>
          <a:ln/>
        </p:spPr>
        <p:txBody>
          <a:bodyPr wrap="square" lIns="8509" tIns="8509" rIns="8509" bIns="85090" rtlCol="0" anchor="ctr">
            <a:spAutoFit/>
          </a:bodyPr>
          <a:lstStyle/>
          <a:p>
            <a:pPr algn="l" indent="0" marL="0">
              <a:lnSpc>
                <a:spcPts val="1100"/>
              </a:lnSpc>
              <a:buNone/>
            </a:pPr>
            <a:r>
              <a:rPr lang="en-US" sz="784" b="1" spc="1" kern="0" dirty="0">
                <a:solidFill>
                  <a:srgbClr val="FF6600"/>
                </a:solidFill>
              </a:rPr>
              <a:t>Lead Says</a:t>
            </a:r>
            <a:endParaRPr lang="en-US" sz="784" dirty="0"/>
          </a:p>
        </p:txBody>
      </p:sp>
      <p:sp>
        <p:nvSpPr>
          <p:cNvPr id="19" name="Text 16"/>
          <p:cNvSpPr/>
          <p:nvPr/>
        </p:nvSpPr>
        <p:spPr>
          <a:xfrm>
            <a:off x="5412088" y="1323380"/>
            <a:ext cx="3160412" cy="237530"/>
          </a:xfrm>
          <a:prstGeom prst="rect">
            <a:avLst/>
          </a:prstGeom>
          <a:noFill/>
          <a:ln/>
        </p:spPr>
        <p:txBody>
          <a:bodyPr wrap="square" lIns="8509" tIns="8509" rIns="8509" bIns="85090" rtlCol="0" anchor="ctr">
            <a:spAutoFit/>
          </a:bodyPr>
          <a:lstStyle/>
          <a:p>
            <a:pPr algn="l" indent="0" marL="0">
              <a:lnSpc>
                <a:spcPts val="1100"/>
              </a:lnSpc>
              <a:buNone/>
            </a:pPr>
            <a:r>
              <a:rPr lang="en-US" sz="784" b="1" spc="1" kern="0" dirty="0">
                <a:solidFill>
                  <a:srgbClr val="FF6600"/>
                </a:solidFill>
              </a:rPr>
              <a:t>AI Agent Response</a:t>
            </a:r>
            <a:endParaRPr lang="en-US" sz="784" dirty="0"/>
          </a:p>
        </p:txBody>
      </p:sp>
      <p:sp>
        <p:nvSpPr>
          <p:cNvPr id="20" name="Text 17"/>
          <p:cNvSpPr/>
          <p:nvPr/>
        </p:nvSpPr>
        <p:spPr>
          <a:xfrm>
            <a:off x="4057650" y="1560909"/>
            <a:ext cx="1354438" cy="532209"/>
          </a:xfrm>
          <a:prstGeom prst="rect">
            <a:avLst/>
          </a:prstGeom>
          <a:noFill/>
          <a:ln/>
        </p:spPr>
        <p:txBody>
          <a:bodyPr wrap="square" lIns="8509" tIns="127508" rIns="8509" bIns="127508" rtlCol="0" anchor="t">
            <a:spAutoFit/>
          </a:bodyPr>
          <a:lstStyle/>
          <a:p>
            <a:pPr algn="l" indent="0" marL="0">
              <a:lnSpc>
                <a:spcPts val="1100"/>
              </a:lnSpc>
              <a:buNone/>
            </a:pPr>
            <a:r>
              <a:rPr lang="en-US" sz="784" b="1" dirty="0">
                <a:solidFill>
                  <a:srgbClr val="FFFFFF"/>
                </a:solidFill>
              </a:rPr>
              <a:t>"Not interested"</a:t>
            </a:r>
            <a:endParaRPr lang="en-US" sz="784" dirty="0"/>
          </a:p>
        </p:txBody>
      </p:sp>
      <p:sp>
        <p:nvSpPr>
          <p:cNvPr id="21" name="Text 18"/>
          <p:cNvSpPr/>
          <p:nvPr/>
        </p:nvSpPr>
        <p:spPr>
          <a:xfrm>
            <a:off x="5412088" y="1560909"/>
            <a:ext cx="3160412" cy="532209"/>
          </a:xfrm>
          <a:prstGeom prst="rect">
            <a:avLst/>
          </a:prstGeom>
          <a:noFill/>
          <a:ln/>
        </p:spPr>
        <p:txBody>
          <a:bodyPr wrap="square" lIns="8509" tIns="127508" rIns="8509" bIns="127508" rtlCol="0" anchor="t">
            <a:spAutoFit/>
          </a:bodyPr>
          <a:lstStyle/>
          <a:p>
            <a:pPr algn="l" indent="0" marL="0">
              <a:lnSpc>
                <a:spcPts val="1100"/>
              </a:lnSpc>
              <a:buNone/>
            </a:pPr>
            <a:r>
              <a:rPr lang="en-US" sz="834" i="1" dirty="0">
                <a:solidFill>
                  <a:srgbClr val="E0E0E0"/>
                </a:solidFill>
              </a:rPr>
              <a:t>"Understood. Before I go — was it more about timing, priority, or this isn't your area?"</a:t>
            </a:r>
            <a:endParaRPr lang="en-US" sz="834" dirty="0"/>
          </a:p>
        </p:txBody>
      </p:sp>
      <p:sp>
        <p:nvSpPr>
          <p:cNvPr id="22" name="Text 19"/>
          <p:cNvSpPr/>
          <p:nvPr/>
        </p:nvSpPr>
        <p:spPr>
          <a:xfrm>
            <a:off x="4057650" y="2093119"/>
            <a:ext cx="1354438" cy="532209"/>
          </a:xfrm>
          <a:prstGeom prst="rect">
            <a:avLst/>
          </a:prstGeom>
          <a:noFill/>
          <a:ln/>
        </p:spPr>
        <p:txBody>
          <a:bodyPr wrap="square" lIns="8509" tIns="127508" rIns="8509" bIns="127508" rtlCol="0" anchor="t">
            <a:spAutoFit/>
          </a:bodyPr>
          <a:lstStyle/>
          <a:p>
            <a:pPr algn="l" indent="0" marL="0">
              <a:lnSpc>
                <a:spcPts val="1100"/>
              </a:lnSpc>
              <a:buNone/>
            </a:pPr>
            <a:r>
              <a:rPr lang="en-US" sz="784" b="1" dirty="0">
                <a:solidFill>
                  <a:srgbClr val="FFFFFF"/>
                </a:solidFill>
              </a:rPr>
              <a:t>"Too expensive"</a:t>
            </a:r>
            <a:endParaRPr lang="en-US" sz="784" dirty="0"/>
          </a:p>
        </p:txBody>
      </p:sp>
      <p:sp>
        <p:nvSpPr>
          <p:cNvPr id="23" name="Text 20"/>
          <p:cNvSpPr/>
          <p:nvPr/>
        </p:nvSpPr>
        <p:spPr>
          <a:xfrm>
            <a:off x="5412088" y="2093119"/>
            <a:ext cx="3160412" cy="532209"/>
          </a:xfrm>
          <a:prstGeom prst="rect">
            <a:avLst/>
          </a:prstGeom>
          <a:noFill/>
          <a:ln/>
        </p:spPr>
        <p:txBody>
          <a:bodyPr wrap="square" lIns="8509" tIns="127508" rIns="8509" bIns="127508" rtlCol="0" anchor="t">
            <a:spAutoFit/>
          </a:bodyPr>
          <a:lstStyle/>
          <a:p>
            <a:pPr algn="l" indent="0" marL="0">
              <a:lnSpc>
                <a:spcPts val="1100"/>
              </a:lnSpc>
              <a:buNone/>
            </a:pPr>
            <a:r>
              <a:rPr lang="en-US" sz="834" i="1" dirty="0">
                <a:solidFill>
                  <a:srgbClr val="E0E0E0"/>
                </a:solidFill>
              </a:rPr>
              <a:t>"Makes sense. What range would feel reasonable for the impact you're after?"</a:t>
            </a:r>
            <a:endParaRPr lang="en-US" sz="834" dirty="0"/>
          </a:p>
        </p:txBody>
      </p:sp>
      <p:sp>
        <p:nvSpPr>
          <p:cNvPr id="24" name="Text 21"/>
          <p:cNvSpPr/>
          <p:nvPr/>
        </p:nvSpPr>
        <p:spPr>
          <a:xfrm>
            <a:off x="4057650" y="2625328"/>
            <a:ext cx="1354438" cy="532209"/>
          </a:xfrm>
          <a:prstGeom prst="rect">
            <a:avLst/>
          </a:prstGeom>
          <a:noFill/>
          <a:ln/>
        </p:spPr>
        <p:txBody>
          <a:bodyPr wrap="square" lIns="8509" tIns="127508" rIns="8509" bIns="127508" rtlCol="0" anchor="t">
            <a:spAutoFit/>
          </a:bodyPr>
          <a:lstStyle/>
          <a:p>
            <a:pPr algn="l" indent="0" marL="0">
              <a:lnSpc>
                <a:spcPts val="1100"/>
              </a:lnSpc>
              <a:buNone/>
            </a:pPr>
            <a:r>
              <a:rPr lang="en-US" sz="784" b="1" dirty="0">
                <a:solidFill>
                  <a:srgbClr val="FFFFFF"/>
                </a:solidFill>
              </a:rPr>
              <a:t>"I'm busy"</a:t>
            </a:r>
            <a:endParaRPr lang="en-US" sz="784" dirty="0"/>
          </a:p>
        </p:txBody>
      </p:sp>
      <p:sp>
        <p:nvSpPr>
          <p:cNvPr id="25" name="Text 22"/>
          <p:cNvSpPr/>
          <p:nvPr/>
        </p:nvSpPr>
        <p:spPr>
          <a:xfrm>
            <a:off x="5412088" y="2625328"/>
            <a:ext cx="3160412" cy="532209"/>
          </a:xfrm>
          <a:prstGeom prst="rect">
            <a:avLst/>
          </a:prstGeom>
          <a:noFill/>
          <a:ln/>
        </p:spPr>
        <p:txBody>
          <a:bodyPr wrap="square" lIns="8509" tIns="127508" rIns="8509" bIns="127508" rtlCol="0" anchor="t">
            <a:spAutoFit/>
          </a:bodyPr>
          <a:lstStyle/>
          <a:p>
            <a:pPr algn="l" indent="0" marL="0">
              <a:lnSpc>
                <a:spcPts val="1100"/>
              </a:lnSpc>
              <a:buNone/>
            </a:pPr>
            <a:r>
              <a:rPr lang="en-US" sz="834" i="1" dirty="0">
                <a:solidFill>
                  <a:srgbClr val="E0E0E0"/>
                </a:solidFill>
              </a:rPr>
              <a:t>"No problem — would a 15-minute slot next week work, or should I email a short summary first?"</a:t>
            </a:r>
            <a:endParaRPr lang="en-US" sz="834" dirty="0"/>
          </a:p>
        </p:txBody>
      </p:sp>
      <p:sp>
        <p:nvSpPr>
          <p:cNvPr id="26" name="Text 23"/>
          <p:cNvSpPr/>
          <p:nvPr/>
        </p:nvSpPr>
        <p:spPr>
          <a:xfrm>
            <a:off x="4057650" y="3157538"/>
            <a:ext cx="1354438" cy="532209"/>
          </a:xfrm>
          <a:prstGeom prst="rect">
            <a:avLst/>
          </a:prstGeom>
          <a:noFill/>
          <a:ln/>
        </p:spPr>
        <p:txBody>
          <a:bodyPr wrap="square" lIns="8509" tIns="127508" rIns="8509" bIns="127508" rtlCol="0" anchor="t">
            <a:spAutoFit/>
          </a:bodyPr>
          <a:lstStyle/>
          <a:p>
            <a:pPr algn="l" indent="0" marL="0">
              <a:lnSpc>
                <a:spcPts val="1100"/>
              </a:lnSpc>
              <a:buNone/>
            </a:pPr>
            <a:r>
              <a:rPr lang="en-US" sz="784" b="1" dirty="0">
                <a:solidFill>
                  <a:srgbClr val="FFFFFF"/>
                </a:solidFill>
              </a:rPr>
              <a:t>"Just send info"</a:t>
            </a:r>
            <a:endParaRPr lang="en-US" sz="784" dirty="0"/>
          </a:p>
        </p:txBody>
      </p:sp>
      <p:sp>
        <p:nvSpPr>
          <p:cNvPr id="27" name="Text 24"/>
          <p:cNvSpPr/>
          <p:nvPr/>
        </p:nvSpPr>
        <p:spPr>
          <a:xfrm>
            <a:off x="5412088" y="3157538"/>
            <a:ext cx="3160412" cy="532209"/>
          </a:xfrm>
          <a:prstGeom prst="rect">
            <a:avLst/>
          </a:prstGeom>
          <a:noFill/>
          <a:ln/>
        </p:spPr>
        <p:txBody>
          <a:bodyPr wrap="square" lIns="8509" tIns="127508" rIns="8509" bIns="127508" rtlCol="0" anchor="t">
            <a:spAutoFit/>
          </a:bodyPr>
          <a:lstStyle/>
          <a:p>
            <a:pPr algn="l" indent="0" marL="0">
              <a:lnSpc>
                <a:spcPts val="1100"/>
              </a:lnSpc>
              <a:buNone/>
            </a:pPr>
            <a:r>
              <a:rPr lang="en-US" sz="834" i="1" dirty="0">
                <a:solidFill>
                  <a:srgbClr val="E0E0E0"/>
                </a:solidFill>
              </a:rPr>
              <a:t>"Happy to. To make it relevant — is it closer to a learning platform, training, or team building?"</a:t>
            </a:r>
            <a:endParaRPr lang="en-US" sz="8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428625"/>
            <a:ext cx="8715375"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6600"/>
                </a:solidFill>
              </a:rPr>
              <a:t>Beyond the Call: Comprehensive Data Extraction</a:t>
            </a:r>
            <a:endParaRPr lang="en-US" sz="2436" dirty="0"/>
          </a:p>
        </p:txBody>
      </p:sp>
      <p:sp>
        <p:nvSpPr>
          <p:cNvPr id="4" name="Text 1"/>
          <p:cNvSpPr/>
          <p:nvPr/>
        </p:nvSpPr>
        <p:spPr>
          <a:xfrm>
            <a:off x="0" y="894755"/>
            <a:ext cx="9144000" cy="600075"/>
          </a:xfrm>
          <a:prstGeom prst="rect">
            <a:avLst/>
          </a:prstGeom>
          <a:noFill/>
          <a:ln/>
        </p:spPr>
        <p:txBody>
          <a:bodyPr wrap="square" lIns="510286" tIns="170053" rIns="510286" bIns="0" rtlCol="0" anchor="t">
            <a:spAutoFit/>
          </a:bodyPr>
          <a:lstStyle/>
          <a:p>
            <a:pPr algn="l" indent="0" marL="0">
              <a:lnSpc>
                <a:spcPts val="1800"/>
              </a:lnSpc>
              <a:buNone/>
            </a:pPr>
            <a:r>
              <a:rPr lang="en-US" sz="1050" dirty="0">
                <a:solidFill>
                  <a:srgbClr val="E0E0E0"/>
                </a:solidFill>
              </a:rPr>
              <a:t>While the agent manages the conversation, a sophisticated backend system extracts deep, structured insights from every verbal interaction, turning dialogue into actionable intelligence.</a:t>
            </a:r>
            <a:endParaRPr lang="en-US" sz="1050" dirty="0"/>
          </a:p>
        </p:txBody>
      </p:sp>
      <p:sp>
        <p:nvSpPr>
          <p:cNvPr id="5" name="Shape 2"/>
          <p:cNvSpPr/>
          <p:nvPr/>
        </p:nvSpPr>
        <p:spPr>
          <a:xfrm>
            <a:off x="428625" y="1780580"/>
            <a:ext cx="2666991" cy="2007394"/>
          </a:xfrm>
          <a:prstGeom prst="rect">
            <a:avLst/>
          </a:prstGeom>
          <a:solidFill>
            <a:srgbClr val="FFFFFF">
              <a:alpha val="3000"/>
            </a:srgbClr>
          </a:solidFill>
          <a:ln/>
        </p:spPr>
      </p:sp>
      <p:sp>
        <p:nvSpPr>
          <p:cNvPr id="6" name="Shape 3"/>
          <p:cNvSpPr/>
          <p:nvPr/>
        </p:nvSpPr>
        <p:spPr>
          <a:xfrm>
            <a:off x="428625" y="1780580"/>
            <a:ext cx="2666991" cy="21431"/>
          </a:xfrm>
          <a:prstGeom prst="rect">
            <a:avLst/>
          </a:prstGeom>
          <a:solidFill>
            <a:srgbClr val="FF6600"/>
          </a:solidFill>
          <a:ln/>
        </p:spPr>
      </p:sp>
      <p:pic>
        <p:nvPicPr>
          <p:cNvPr id="7" name="Image 1" descr="preencoded.png">    </p:cNvPr>
          <p:cNvPicPr>
            <a:picLocks noChangeAspect="1"/>
          </p:cNvPicPr>
          <p:nvPr/>
        </p:nvPicPr>
        <p:blipFill>
          <a:blip r:embed="rId2"/>
          <a:stretch>
            <a:fillRect/>
          </a:stretch>
        </p:blipFill>
        <p:spPr>
          <a:xfrm>
            <a:off x="571500" y="1964531"/>
            <a:ext cx="285750" cy="285750"/>
          </a:xfrm>
          <a:prstGeom prst="rect">
            <a:avLst/>
          </a:prstGeom>
        </p:spPr>
      </p:pic>
      <p:sp>
        <p:nvSpPr>
          <p:cNvPr id="8" name="Text 4"/>
          <p:cNvSpPr/>
          <p:nvPr/>
        </p:nvSpPr>
        <p:spPr>
          <a:xfrm>
            <a:off x="571500" y="2384227"/>
            <a:ext cx="2381241"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The Analytical Core</a:t>
            </a:r>
            <a:endParaRPr lang="en-US" sz="1193" dirty="0"/>
          </a:p>
        </p:txBody>
      </p:sp>
      <p:sp>
        <p:nvSpPr>
          <p:cNvPr id="9" name="Text 5"/>
          <p:cNvSpPr/>
          <p:nvPr/>
        </p:nvSpPr>
        <p:spPr>
          <a:xfrm>
            <a:off x="571500" y="2689622"/>
            <a:ext cx="2381241"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A separate analysis system processes the conversation afterward to produce structured data, ensuring the agent remains focused on natural dialogue.</a:t>
            </a:r>
            <a:endParaRPr lang="en-US" sz="834" dirty="0"/>
          </a:p>
        </p:txBody>
      </p:sp>
      <p:sp>
        <p:nvSpPr>
          <p:cNvPr id="10" name="Shape 6"/>
          <p:cNvSpPr/>
          <p:nvPr/>
        </p:nvSpPr>
        <p:spPr>
          <a:xfrm>
            <a:off x="3238491" y="1780580"/>
            <a:ext cx="2666991" cy="2007394"/>
          </a:xfrm>
          <a:prstGeom prst="rect">
            <a:avLst/>
          </a:prstGeom>
          <a:solidFill>
            <a:srgbClr val="FFFFFF">
              <a:alpha val="3000"/>
            </a:srgbClr>
          </a:solidFill>
          <a:ln/>
        </p:spPr>
      </p:sp>
      <p:sp>
        <p:nvSpPr>
          <p:cNvPr id="11" name="Shape 7"/>
          <p:cNvSpPr/>
          <p:nvPr/>
        </p:nvSpPr>
        <p:spPr>
          <a:xfrm>
            <a:off x="3238491" y="1780580"/>
            <a:ext cx="2666991" cy="21431"/>
          </a:xfrm>
          <a:prstGeom prst="rect">
            <a:avLst/>
          </a:prstGeom>
          <a:solidFill>
            <a:srgbClr val="FF6600"/>
          </a:solidFill>
          <a:ln/>
        </p:spPr>
      </p:sp>
      <p:pic>
        <p:nvPicPr>
          <p:cNvPr id="12" name="Image 2" descr="preencoded.png">    </p:cNvPr>
          <p:cNvPicPr>
            <a:picLocks noChangeAspect="1"/>
          </p:cNvPicPr>
          <p:nvPr/>
        </p:nvPicPr>
        <p:blipFill>
          <a:blip r:embed="rId3"/>
          <a:stretch>
            <a:fillRect/>
          </a:stretch>
        </p:blipFill>
        <p:spPr>
          <a:xfrm>
            <a:off x="3381366" y="1964531"/>
            <a:ext cx="321469" cy="285750"/>
          </a:xfrm>
          <a:prstGeom prst="rect">
            <a:avLst/>
          </a:prstGeom>
        </p:spPr>
      </p:pic>
      <p:sp>
        <p:nvSpPr>
          <p:cNvPr id="13" name="Text 8"/>
          <p:cNvSpPr/>
          <p:nvPr/>
        </p:nvSpPr>
        <p:spPr>
          <a:xfrm>
            <a:off x="3381366" y="2384227"/>
            <a:ext cx="2381241"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Lead Profiling</a:t>
            </a:r>
            <a:endParaRPr lang="en-US" sz="1193" dirty="0"/>
          </a:p>
        </p:txBody>
      </p:sp>
      <p:sp>
        <p:nvSpPr>
          <p:cNvPr id="14" name="Text 9"/>
          <p:cNvSpPr/>
          <p:nvPr/>
        </p:nvSpPr>
        <p:spPr>
          <a:xfrm>
            <a:off x="3381366" y="2696766"/>
            <a:ext cx="2091249"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Captures granular details beyond basic</a:t>
            </a:r>
            <a:endParaRPr lang="en-US" sz="834" dirty="0"/>
          </a:p>
        </p:txBody>
      </p:sp>
      <p:sp>
        <p:nvSpPr>
          <p:cNvPr id="15" name="Text 10"/>
          <p:cNvSpPr/>
          <p:nvPr/>
        </p:nvSpPr>
        <p:spPr>
          <a:xfrm>
            <a:off x="3381366" y="2868216"/>
            <a:ext cx="665122"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contact info:</a:t>
            </a:r>
            <a:endParaRPr lang="en-US" sz="834" dirty="0"/>
          </a:p>
        </p:txBody>
      </p:sp>
      <p:sp>
        <p:nvSpPr>
          <p:cNvPr id="16" name="Text 11"/>
          <p:cNvSpPr/>
          <p:nvPr/>
        </p:nvSpPr>
        <p:spPr>
          <a:xfrm>
            <a:off x="3667116" y="3075384"/>
            <a:ext cx="2095491"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Job Roles &amp; Industries</a:t>
            </a:r>
            <a:endParaRPr lang="en-US" sz="834" dirty="0"/>
          </a:p>
        </p:txBody>
      </p:sp>
      <p:sp>
        <p:nvSpPr>
          <p:cNvPr id="17" name="Text 12"/>
          <p:cNvSpPr/>
          <p:nvPr/>
        </p:nvSpPr>
        <p:spPr>
          <a:xfrm>
            <a:off x="3667116" y="3289697"/>
            <a:ext cx="2095491"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Specific "Trigger Phrases"</a:t>
            </a:r>
            <a:endParaRPr lang="en-US" sz="834" dirty="0"/>
          </a:p>
        </p:txBody>
      </p:sp>
      <p:sp>
        <p:nvSpPr>
          <p:cNvPr id="18" name="Text 13"/>
          <p:cNvSpPr/>
          <p:nvPr/>
        </p:nvSpPr>
        <p:spPr>
          <a:xfrm>
            <a:off x="3667116" y="3504009"/>
            <a:ext cx="2095491"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Product Category Interest</a:t>
            </a:r>
            <a:endParaRPr lang="en-US" sz="834" dirty="0"/>
          </a:p>
        </p:txBody>
      </p:sp>
      <p:sp>
        <p:nvSpPr>
          <p:cNvPr id="19" name="Shape 14"/>
          <p:cNvSpPr/>
          <p:nvPr/>
        </p:nvSpPr>
        <p:spPr>
          <a:xfrm>
            <a:off x="6048356" y="1780580"/>
            <a:ext cx="2667019" cy="2007394"/>
          </a:xfrm>
          <a:prstGeom prst="rect">
            <a:avLst/>
          </a:prstGeom>
          <a:solidFill>
            <a:srgbClr val="FFFFFF">
              <a:alpha val="3000"/>
            </a:srgbClr>
          </a:solidFill>
          <a:ln/>
        </p:spPr>
      </p:sp>
      <p:sp>
        <p:nvSpPr>
          <p:cNvPr id="20" name="Shape 15"/>
          <p:cNvSpPr/>
          <p:nvPr/>
        </p:nvSpPr>
        <p:spPr>
          <a:xfrm>
            <a:off x="6048356" y="1780580"/>
            <a:ext cx="2667019" cy="21431"/>
          </a:xfrm>
          <a:prstGeom prst="rect">
            <a:avLst/>
          </a:prstGeom>
          <a:solidFill>
            <a:srgbClr val="FF6600"/>
          </a:solidFill>
          <a:ln/>
        </p:spPr>
      </p:sp>
      <p:pic>
        <p:nvPicPr>
          <p:cNvPr id="21" name="Image 3" descr="preencoded.png">    </p:cNvPr>
          <p:cNvPicPr>
            <a:picLocks noChangeAspect="1"/>
          </p:cNvPicPr>
          <p:nvPr/>
        </p:nvPicPr>
        <p:blipFill>
          <a:blip r:embed="rId4"/>
          <a:stretch>
            <a:fillRect/>
          </a:stretch>
        </p:blipFill>
        <p:spPr>
          <a:xfrm>
            <a:off x="6191231" y="1964531"/>
            <a:ext cx="285750" cy="285750"/>
          </a:xfrm>
          <a:prstGeom prst="rect">
            <a:avLst/>
          </a:prstGeom>
        </p:spPr>
      </p:pic>
      <p:sp>
        <p:nvSpPr>
          <p:cNvPr id="22" name="Text 16"/>
          <p:cNvSpPr/>
          <p:nvPr/>
        </p:nvSpPr>
        <p:spPr>
          <a:xfrm>
            <a:off x="6191231" y="2384227"/>
            <a:ext cx="2381269"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Contextual Intelligence</a:t>
            </a:r>
            <a:endParaRPr lang="en-US" sz="1193" dirty="0"/>
          </a:p>
        </p:txBody>
      </p:sp>
      <p:sp>
        <p:nvSpPr>
          <p:cNvPr id="23" name="Text 17"/>
          <p:cNvSpPr/>
          <p:nvPr/>
        </p:nvSpPr>
        <p:spPr>
          <a:xfrm>
            <a:off x="6191231" y="2696766"/>
            <a:ext cx="2320296"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Identifies the environment and constraints:</a:t>
            </a:r>
            <a:endParaRPr lang="en-US" sz="834" dirty="0"/>
          </a:p>
        </p:txBody>
      </p:sp>
      <p:sp>
        <p:nvSpPr>
          <p:cNvPr id="24" name="Text 18"/>
          <p:cNvSpPr/>
          <p:nvPr/>
        </p:nvSpPr>
        <p:spPr>
          <a:xfrm>
            <a:off x="6476981" y="2903934"/>
            <a:ext cx="2095519"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Team Size &amp; Scope</a:t>
            </a:r>
            <a:endParaRPr lang="en-US" sz="834" dirty="0"/>
          </a:p>
        </p:txBody>
      </p:sp>
      <p:sp>
        <p:nvSpPr>
          <p:cNvPr id="25" name="Text 19"/>
          <p:cNvSpPr/>
          <p:nvPr/>
        </p:nvSpPr>
        <p:spPr>
          <a:xfrm>
            <a:off x="6476981" y="3118247"/>
            <a:ext cx="2095519"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Key Decision Stakeholders</a:t>
            </a:r>
            <a:endParaRPr lang="en-US" sz="834" dirty="0"/>
          </a:p>
        </p:txBody>
      </p:sp>
      <p:sp>
        <p:nvSpPr>
          <p:cNvPr id="26" name="Text 20"/>
          <p:cNvSpPr/>
          <p:nvPr/>
        </p:nvSpPr>
        <p:spPr>
          <a:xfrm>
            <a:off x="6476981" y="3332559"/>
            <a:ext cx="2095519"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Budget Ranges &amp; Timelines</a:t>
            </a:r>
            <a:endParaRPr lang="en-US" sz="83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428625"/>
            <a:ext cx="8715375"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6600"/>
                </a:solidFill>
              </a:rPr>
              <a:t>Evaluation Criteria: Quality at Scale</a:t>
            </a:r>
            <a:endParaRPr lang="en-US" sz="2436" dirty="0"/>
          </a:p>
        </p:txBody>
      </p:sp>
      <p:sp>
        <p:nvSpPr>
          <p:cNvPr id="4" name="Text 1"/>
          <p:cNvSpPr/>
          <p:nvPr/>
        </p:nvSpPr>
        <p:spPr>
          <a:xfrm>
            <a:off x="0" y="894755"/>
            <a:ext cx="9144000" cy="317897"/>
          </a:xfrm>
          <a:prstGeom prst="rect">
            <a:avLst/>
          </a:prstGeom>
          <a:noFill/>
          <a:ln/>
        </p:spPr>
        <p:txBody>
          <a:bodyPr wrap="square" lIns="510286" tIns="170053" rIns="510286" bIns="0" rtlCol="0" anchor="t">
            <a:spAutoFit/>
          </a:bodyPr>
          <a:lstStyle/>
          <a:p>
            <a:pPr algn="l" indent="0" marL="0">
              <a:lnSpc>
                <a:spcPts val="1200"/>
              </a:lnSpc>
              <a:buNone/>
            </a:pPr>
            <a:r>
              <a:rPr lang="en-US" sz="942" dirty="0">
                <a:solidFill>
                  <a:srgbClr val="E0E0E0"/>
                </a:solidFill>
              </a:rPr>
              <a:t>Every call is automatically audited against 12 key performance indicators to ensure 100% compliance and conversational excellence.</a:t>
            </a:r>
            <a:endParaRPr lang="en-US" sz="942" dirty="0"/>
          </a:p>
        </p:txBody>
      </p:sp>
      <p:sp>
        <p:nvSpPr>
          <p:cNvPr id="5" name="Shape 2"/>
          <p:cNvSpPr/>
          <p:nvPr/>
        </p:nvSpPr>
        <p:spPr>
          <a:xfrm>
            <a:off x="428625" y="1498402"/>
            <a:ext cx="4036219" cy="1464469"/>
          </a:xfrm>
          <a:prstGeom prst="rect">
            <a:avLst/>
          </a:prstGeom>
          <a:solidFill>
            <a:srgbClr val="FFFFFF">
              <a:alpha val="3000"/>
            </a:srgbClr>
          </a:solidFill>
          <a:ln/>
        </p:spPr>
      </p:sp>
      <p:pic>
        <p:nvPicPr>
          <p:cNvPr id="6" name="Image 1" descr="preencoded.png">    </p:cNvPr>
          <p:cNvPicPr>
            <a:picLocks noChangeAspect="1"/>
          </p:cNvPicPr>
          <p:nvPr/>
        </p:nvPicPr>
        <p:blipFill>
          <a:blip r:embed="rId2"/>
          <a:stretch>
            <a:fillRect/>
          </a:stretch>
        </p:blipFill>
        <p:spPr>
          <a:xfrm>
            <a:off x="607219" y="1698427"/>
            <a:ext cx="171450" cy="171450"/>
          </a:xfrm>
          <a:prstGeom prst="rect">
            <a:avLst/>
          </a:prstGeom>
        </p:spPr>
      </p:pic>
      <p:sp>
        <p:nvSpPr>
          <p:cNvPr id="7" name="Text 3"/>
          <p:cNvSpPr/>
          <p:nvPr/>
        </p:nvSpPr>
        <p:spPr>
          <a:xfrm>
            <a:off x="885825" y="1676995"/>
            <a:ext cx="174907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6600"/>
                </a:solidFill>
              </a:rPr>
              <a:t>Compliance &amp; Identity</a:t>
            </a:r>
            <a:endParaRPr lang="en-US" sz="1090" dirty="0"/>
          </a:p>
        </p:txBody>
      </p:sp>
      <p:sp>
        <p:nvSpPr>
          <p:cNvPr id="8" name="Text 4"/>
          <p:cNvSpPr/>
          <p:nvPr/>
        </p:nvSpPr>
        <p:spPr>
          <a:xfrm>
            <a:off x="607219" y="1998464"/>
            <a:ext cx="367903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AI Disclosure Given</a:t>
            </a:r>
            <a:endParaRPr lang="en-US" sz="834" dirty="0"/>
          </a:p>
        </p:txBody>
      </p:sp>
      <p:sp>
        <p:nvSpPr>
          <p:cNvPr id="9" name="Text 5"/>
          <p:cNvSpPr/>
          <p:nvPr/>
        </p:nvSpPr>
        <p:spPr>
          <a:xfrm>
            <a:off x="607219" y="2210991"/>
            <a:ext cx="367903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Recording Consent Obtained</a:t>
            </a:r>
            <a:endParaRPr lang="en-US" sz="834" dirty="0"/>
          </a:p>
        </p:txBody>
      </p:sp>
      <p:sp>
        <p:nvSpPr>
          <p:cNvPr id="10" name="Text 6"/>
          <p:cNvSpPr/>
          <p:nvPr/>
        </p:nvSpPr>
        <p:spPr>
          <a:xfrm>
            <a:off x="607219" y="2423517"/>
            <a:ext cx="367903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Axonify Naming Compliance</a:t>
            </a:r>
            <a:endParaRPr lang="en-US" sz="834" dirty="0"/>
          </a:p>
        </p:txBody>
      </p:sp>
      <p:sp>
        <p:nvSpPr>
          <p:cNvPr id="11" name="Text 7"/>
          <p:cNvSpPr/>
          <p:nvPr/>
        </p:nvSpPr>
        <p:spPr>
          <a:xfrm>
            <a:off x="607219" y="2636044"/>
            <a:ext cx="367903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No Unauthorized Promises</a:t>
            </a:r>
            <a:endParaRPr lang="en-US" sz="834" dirty="0"/>
          </a:p>
        </p:txBody>
      </p:sp>
      <p:sp>
        <p:nvSpPr>
          <p:cNvPr id="12" name="Shape 8"/>
          <p:cNvSpPr/>
          <p:nvPr/>
        </p:nvSpPr>
        <p:spPr>
          <a:xfrm>
            <a:off x="4679156" y="1498402"/>
            <a:ext cx="4036219" cy="1464469"/>
          </a:xfrm>
          <a:prstGeom prst="rect">
            <a:avLst/>
          </a:prstGeom>
          <a:solidFill>
            <a:srgbClr val="FFFFFF">
              <a:alpha val="3000"/>
            </a:srgbClr>
          </a:solidFill>
          <a:ln/>
        </p:spPr>
      </p:sp>
      <p:pic>
        <p:nvPicPr>
          <p:cNvPr id="13" name="Image 2" descr="preencoded.png">    </p:cNvPr>
          <p:cNvPicPr>
            <a:picLocks noChangeAspect="1"/>
          </p:cNvPicPr>
          <p:nvPr/>
        </p:nvPicPr>
        <p:blipFill>
          <a:blip r:embed="rId3"/>
          <a:stretch>
            <a:fillRect/>
          </a:stretch>
        </p:blipFill>
        <p:spPr>
          <a:xfrm>
            <a:off x="4857750" y="1698427"/>
            <a:ext cx="214313" cy="171450"/>
          </a:xfrm>
          <a:prstGeom prst="rect">
            <a:avLst/>
          </a:prstGeom>
        </p:spPr>
      </p:pic>
      <p:sp>
        <p:nvSpPr>
          <p:cNvPr id="14" name="Text 9"/>
          <p:cNvSpPr/>
          <p:nvPr/>
        </p:nvSpPr>
        <p:spPr>
          <a:xfrm>
            <a:off x="5179219" y="1676995"/>
            <a:ext cx="1590656"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6600"/>
                </a:solidFill>
              </a:rPr>
              <a:t>Conversational Flow</a:t>
            </a:r>
            <a:endParaRPr lang="en-US" sz="1090" dirty="0"/>
          </a:p>
        </p:txBody>
      </p:sp>
      <p:sp>
        <p:nvSpPr>
          <p:cNvPr id="15" name="Text 10"/>
          <p:cNvSpPr/>
          <p:nvPr/>
        </p:nvSpPr>
        <p:spPr>
          <a:xfrm>
            <a:off x="4857750" y="1998464"/>
            <a:ext cx="367903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Conversational, Not Interrogative</a:t>
            </a:r>
            <a:endParaRPr lang="en-US" sz="834" dirty="0"/>
          </a:p>
        </p:txBody>
      </p:sp>
      <p:sp>
        <p:nvSpPr>
          <p:cNvPr id="16" name="Text 11"/>
          <p:cNvSpPr/>
          <p:nvPr/>
        </p:nvSpPr>
        <p:spPr>
          <a:xfrm>
            <a:off x="4857750" y="2210991"/>
            <a:ext cx="367903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Caller Engagement Maintained</a:t>
            </a:r>
            <a:endParaRPr lang="en-US" sz="834" dirty="0"/>
          </a:p>
        </p:txBody>
      </p:sp>
      <p:sp>
        <p:nvSpPr>
          <p:cNvPr id="17" name="Text 12"/>
          <p:cNvSpPr/>
          <p:nvPr/>
        </p:nvSpPr>
        <p:spPr>
          <a:xfrm>
            <a:off x="4857750" y="2423517"/>
            <a:ext cx="367903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Professional Call Closure</a:t>
            </a:r>
            <a:endParaRPr lang="en-US" sz="834" dirty="0"/>
          </a:p>
        </p:txBody>
      </p:sp>
      <p:sp>
        <p:nvSpPr>
          <p:cNvPr id="18" name="Text 13"/>
          <p:cNvSpPr/>
          <p:nvPr/>
        </p:nvSpPr>
        <p:spPr>
          <a:xfrm>
            <a:off x="4857750" y="2636044"/>
            <a:ext cx="367903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Appropriate Routing Decision</a:t>
            </a:r>
            <a:endParaRPr lang="en-US" sz="834" dirty="0"/>
          </a:p>
        </p:txBody>
      </p:sp>
      <p:sp>
        <p:nvSpPr>
          <p:cNvPr id="19" name="Shape 14"/>
          <p:cNvSpPr/>
          <p:nvPr/>
        </p:nvSpPr>
        <p:spPr>
          <a:xfrm>
            <a:off x="428625" y="3177183"/>
            <a:ext cx="4036219" cy="1464469"/>
          </a:xfrm>
          <a:prstGeom prst="rect">
            <a:avLst/>
          </a:prstGeom>
          <a:solidFill>
            <a:srgbClr val="FFFFFF">
              <a:alpha val="3000"/>
            </a:srgbClr>
          </a:solidFill>
          <a:ln/>
        </p:spPr>
      </p:sp>
      <p:pic>
        <p:nvPicPr>
          <p:cNvPr id="20" name="Image 3" descr="preencoded.png">    </p:cNvPr>
          <p:cNvPicPr>
            <a:picLocks noChangeAspect="1"/>
          </p:cNvPicPr>
          <p:nvPr/>
        </p:nvPicPr>
        <p:blipFill>
          <a:blip r:embed="rId4"/>
          <a:stretch>
            <a:fillRect/>
          </a:stretch>
        </p:blipFill>
        <p:spPr>
          <a:xfrm>
            <a:off x="607219" y="3377208"/>
            <a:ext cx="171450" cy="171450"/>
          </a:xfrm>
          <a:prstGeom prst="rect">
            <a:avLst/>
          </a:prstGeom>
        </p:spPr>
      </p:pic>
      <p:sp>
        <p:nvSpPr>
          <p:cNvPr id="21" name="Text 15"/>
          <p:cNvSpPr/>
          <p:nvPr/>
        </p:nvSpPr>
        <p:spPr>
          <a:xfrm>
            <a:off x="885825" y="3355777"/>
            <a:ext cx="1508447"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6600"/>
                </a:solidFill>
              </a:rPr>
              <a:t>Strategic Discovery</a:t>
            </a:r>
            <a:endParaRPr lang="en-US" sz="1090" dirty="0"/>
          </a:p>
        </p:txBody>
      </p:sp>
      <p:sp>
        <p:nvSpPr>
          <p:cNvPr id="22" name="Text 16"/>
          <p:cNvSpPr/>
          <p:nvPr/>
        </p:nvSpPr>
        <p:spPr>
          <a:xfrm>
            <a:off x="607219" y="3677245"/>
            <a:ext cx="367903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Pain Points Identified</a:t>
            </a:r>
            <a:endParaRPr lang="en-US" sz="834" dirty="0"/>
          </a:p>
        </p:txBody>
      </p:sp>
      <p:sp>
        <p:nvSpPr>
          <p:cNvPr id="23" name="Text 17"/>
          <p:cNvSpPr/>
          <p:nvPr/>
        </p:nvSpPr>
        <p:spPr>
          <a:xfrm>
            <a:off x="607219" y="3889772"/>
            <a:ext cx="367903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Objections Handled Well</a:t>
            </a:r>
            <a:endParaRPr lang="en-US" sz="834" dirty="0"/>
          </a:p>
        </p:txBody>
      </p:sp>
      <p:sp>
        <p:nvSpPr>
          <p:cNvPr id="24" name="Text 18"/>
          <p:cNvSpPr/>
          <p:nvPr/>
        </p:nvSpPr>
        <p:spPr>
          <a:xfrm>
            <a:off x="607219" y="4102298"/>
            <a:ext cx="367903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Caller Identity Captured</a:t>
            </a:r>
            <a:endParaRPr lang="en-US" sz="834" dirty="0"/>
          </a:p>
        </p:txBody>
      </p:sp>
      <p:sp>
        <p:nvSpPr>
          <p:cNvPr id="25" name="Text 19"/>
          <p:cNvSpPr/>
          <p:nvPr/>
        </p:nvSpPr>
        <p:spPr>
          <a:xfrm>
            <a:off x="607219" y="4314825"/>
            <a:ext cx="3679031" cy="15537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0E0E0"/>
                </a:solidFill>
              </a:rPr>
              <a:t>Clear Next Step Agreed</a:t>
            </a:r>
            <a:endParaRPr lang="en-US" sz="834" dirty="0"/>
          </a:p>
        </p:txBody>
      </p:sp>
      <p:sp>
        <p:nvSpPr>
          <p:cNvPr id="26" name="Text 20"/>
          <p:cNvSpPr/>
          <p:nvPr/>
        </p:nvSpPr>
        <p:spPr>
          <a:xfrm>
            <a:off x="4857750" y="3556695"/>
            <a:ext cx="3679031" cy="884039"/>
          </a:xfrm>
          <a:prstGeom prst="rect">
            <a:avLst/>
          </a:prstGeom>
          <a:noFill/>
          <a:ln/>
        </p:spPr>
        <p:txBody>
          <a:bodyPr wrap="square" lIns="170053" tIns="170053" rIns="170053" bIns="170053" rtlCol="0" anchor="t">
            <a:spAutoFit/>
          </a:bodyPr>
          <a:lstStyle/>
          <a:p>
            <a:pPr algn="ctr" indent="0" marL="0">
              <a:lnSpc>
                <a:spcPts val="1400"/>
              </a:lnSpc>
              <a:buNone/>
            </a:pPr>
            <a:r>
              <a:rPr lang="en-US" sz="1050" i="1" dirty="0">
                <a:solidFill>
                  <a:srgbClr val="FF6600"/>
                </a:solidFill>
              </a:rPr>
              <a:t>"Automated QA ensures that the AI agent represents Biz Group with the same integrity as our human team."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428625"/>
            <a:ext cx="8715375"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6600"/>
                </a:solidFill>
              </a:rPr>
              <a:t>Data Collection: The Sales Intelligence Dashboard</a:t>
            </a:r>
            <a:endParaRPr lang="en-US" sz="2436" dirty="0"/>
          </a:p>
        </p:txBody>
      </p:sp>
      <p:sp>
        <p:nvSpPr>
          <p:cNvPr id="4" name="Text 1"/>
          <p:cNvSpPr/>
          <p:nvPr/>
        </p:nvSpPr>
        <p:spPr>
          <a:xfrm>
            <a:off x="428625" y="1180505"/>
            <a:ext cx="1326868" cy="255389"/>
          </a:xfrm>
          <a:prstGeom prst="rect">
            <a:avLst/>
          </a:prstGeom>
          <a:noFill/>
          <a:ln/>
        </p:spPr>
        <p:txBody>
          <a:bodyPr wrap="square" lIns="8509" tIns="102108" rIns="8509" bIns="8509" rtlCol="0" anchor="ctr">
            <a:spAutoFit/>
          </a:bodyPr>
          <a:lstStyle/>
          <a:p>
            <a:pPr algn="l" indent="0" marL="0">
              <a:lnSpc>
                <a:spcPts val="1100"/>
              </a:lnSpc>
              <a:buNone/>
            </a:pPr>
            <a:r>
              <a:rPr lang="en-US" sz="784" b="1" spc="1" kern="0" dirty="0">
                <a:solidFill>
                  <a:srgbClr val="FF6600"/>
                </a:solidFill>
              </a:rPr>
              <a:t>Data Point</a:t>
            </a:r>
            <a:endParaRPr lang="en-US" sz="784" dirty="0"/>
          </a:p>
        </p:txBody>
      </p:sp>
      <p:sp>
        <p:nvSpPr>
          <p:cNvPr id="5" name="Text 2"/>
          <p:cNvSpPr/>
          <p:nvPr/>
        </p:nvSpPr>
        <p:spPr>
          <a:xfrm>
            <a:off x="1755493" y="1180505"/>
            <a:ext cx="3473732" cy="255389"/>
          </a:xfrm>
          <a:prstGeom prst="rect">
            <a:avLst/>
          </a:prstGeom>
          <a:noFill/>
          <a:ln/>
        </p:spPr>
        <p:txBody>
          <a:bodyPr wrap="square" lIns="8509" tIns="102108" rIns="8509" bIns="8509" rtlCol="0" anchor="ctr">
            <a:spAutoFit/>
          </a:bodyPr>
          <a:lstStyle/>
          <a:p>
            <a:pPr algn="l" indent="0" marL="0">
              <a:lnSpc>
                <a:spcPts val="1100"/>
              </a:lnSpc>
              <a:buNone/>
            </a:pPr>
            <a:r>
              <a:rPr lang="en-US" sz="784" b="1" spc="1" kern="0" dirty="0">
                <a:solidFill>
                  <a:srgbClr val="FF6600"/>
                </a:solidFill>
              </a:rPr>
              <a:t>Sales Value</a:t>
            </a:r>
            <a:endParaRPr lang="en-US" sz="784" dirty="0"/>
          </a:p>
        </p:txBody>
      </p:sp>
      <p:sp>
        <p:nvSpPr>
          <p:cNvPr id="6" name="Text 3"/>
          <p:cNvSpPr/>
          <p:nvPr/>
        </p:nvSpPr>
        <p:spPr>
          <a:xfrm>
            <a:off x="428625" y="1435894"/>
            <a:ext cx="1326868" cy="280392"/>
          </a:xfrm>
          <a:prstGeom prst="rect">
            <a:avLst/>
          </a:prstGeom>
          <a:noFill/>
          <a:ln/>
        </p:spPr>
        <p:txBody>
          <a:bodyPr wrap="square" lIns="8509" tIns="127508" rIns="8509" bIns="8509" rtlCol="0" anchor="ctr">
            <a:spAutoFit/>
          </a:bodyPr>
          <a:lstStyle/>
          <a:p>
            <a:pPr algn="l" indent="0" marL="0">
              <a:lnSpc>
                <a:spcPts val="1100"/>
              </a:lnSpc>
              <a:buNone/>
            </a:pPr>
            <a:r>
              <a:rPr lang="en-US" sz="834" dirty="0">
                <a:solidFill>
                  <a:srgbClr val="E0E0E0"/>
                </a:solidFill>
              </a:rPr>
              <a:t>Lead Interest Level</a:t>
            </a:r>
            <a:endParaRPr lang="en-US" sz="834" dirty="0"/>
          </a:p>
        </p:txBody>
      </p:sp>
      <p:sp>
        <p:nvSpPr>
          <p:cNvPr id="7" name="Text 4"/>
          <p:cNvSpPr/>
          <p:nvPr/>
        </p:nvSpPr>
        <p:spPr>
          <a:xfrm>
            <a:off x="1755493" y="1435894"/>
            <a:ext cx="3473732" cy="280392"/>
          </a:xfrm>
          <a:prstGeom prst="rect">
            <a:avLst/>
          </a:prstGeom>
          <a:noFill/>
          <a:ln/>
        </p:spPr>
        <p:txBody>
          <a:bodyPr wrap="square" lIns="8509" tIns="127508" rIns="8509" bIns="8509" rtlCol="0" anchor="ctr">
            <a:spAutoFit/>
          </a:bodyPr>
          <a:lstStyle/>
          <a:p>
            <a:pPr algn="l" indent="0" marL="0">
              <a:lnSpc>
                <a:spcPts val="1100"/>
              </a:lnSpc>
              <a:buNone/>
            </a:pPr>
            <a:r>
              <a:rPr lang="en-US" sz="834" dirty="0">
                <a:solidFill>
                  <a:srgbClr val="E0E0E0"/>
                </a:solidFill>
              </a:rPr>
              <a:t>Prioritize high-intent prospects immediately.</a:t>
            </a:r>
            <a:endParaRPr lang="en-US" sz="834" dirty="0"/>
          </a:p>
        </p:txBody>
      </p:sp>
      <p:sp>
        <p:nvSpPr>
          <p:cNvPr id="8" name="Text 5"/>
          <p:cNvSpPr/>
          <p:nvPr/>
        </p:nvSpPr>
        <p:spPr>
          <a:xfrm>
            <a:off x="428625" y="1716286"/>
            <a:ext cx="1326868" cy="276820"/>
          </a:xfrm>
          <a:prstGeom prst="rect">
            <a:avLst/>
          </a:prstGeom>
          <a:noFill/>
          <a:ln/>
        </p:spPr>
        <p:txBody>
          <a:bodyPr wrap="square" lIns="8509" tIns="127508" rIns="8509" bIns="8509" rtlCol="0" anchor="ctr">
            <a:spAutoFit/>
          </a:bodyPr>
          <a:lstStyle/>
          <a:p>
            <a:pPr algn="l" indent="0" marL="0">
              <a:lnSpc>
                <a:spcPts val="1100"/>
              </a:lnSpc>
              <a:buNone/>
            </a:pPr>
            <a:r>
              <a:rPr lang="en-US" sz="834" dirty="0">
                <a:solidFill>
                  <a:srgbClr val="E0E0E0"/>
                </a:solidFill>
              </a:rPr>
              <a:t>Trigger Phrases</a:t>
            </a:r>
            <a:endParaRPr lang="en-US" sz="834" dirty="0"/>
          </a:p>
        </p:txBody>
      </p:sp>
      <p:sp>
        <p:nvSpPr>
          <p:cNvPr id="9" name="Text 6"/>
          <p:cNvSpPr/>
          <p:nvPr/>
        </p:nvSpPr>
        <p:spPr>
          <a:xfrm>
            <a:off x="1755493" y="1716286"/>
            <a:ext cx="3473732" cy="276820"/>
          </a:xfrm>
          <a:prstGeom prst="rect">
            <a:avLst/>
          </a:prstGeom>
          <a:noFill/>
          <a:ln/>
        </p:spPr>
        <p:txBody>
          <a:bodyPr wrap="square" lIns="8509" tIns="127508" rIns="8509" bIns="8509" rtlCol="0" anchor="ctr">
            <a:spAutoFit/>
          </a:bodyPr>
          <a:lstStyle/>
          <a:p>
            <a:pPr algn="l" indent="0" marL="0">
              <a:lnSpc>
                <a:spcPts val="1100"/>
              </a:lnSpc>
              <a:buNone/>
            </a:pPr>
            <a:r>
              <a:rPr lang="en-US" sz="834" dirty="0">
                <a:solidFill>
                  <a:srgbClr val="E0E0E0"/>
                </a:solidFill>
              </a:rPr>
              <a:t>Identify specific needs like "Axonify" or "Onboarding".</a:t>
            </a:r>
            <a:endParaRPr lang="en-US" sz="834" dirty="0"/>
          </a:p>
        </p:txBody>
      </p:sp>
      <p:sp>
        <p:nvSpPr>
          <p:cNvPr id="10" name="Text 7"/>
          <p:cNvSpPr/>
          <p:nvPr/>
        </p:nvSpPr>
        <p:spPr>
          <a:xfrm>
            <a:off x="428625" y="1993106"/>
            <a:ext cx="1326868" cy="276820"/>
          </a:xfrm>
          <a:prstGeom prst="rect">
            <a:avLst/>
          </a:prstGeom>
          <a:noFill/>
          <a:ln/>
        </p:spPr>
        <p:txBody>
          <a:bodyPr wrap="square" lIns="8509" tIns="127508" rIns="8509" bIns="8509" rtlCol="0" anchor="ctr">
            <a:spAutoFit/>
          </a:bodyPr>
          <a:lstStyle/>
          <a:p>
            <a:pPr algn="l" indent="0" marL="0">
              <a:lnSpc>
                <a:spcPts val="1100"/>
              </a:lnSpc>
              <a:buNone/>
            </a:pPr>
            <a:r>
              <a:rPr lang="en-US" sz="834" dirty="0">
                <a:solidFill>
                  <a:srgbClr val="E0E0E0"/>
                </a:solidFill>
              </a:rPr>
              <a:t>Budget &amp; Timeline</a:t>
            </a:r>
            <a:endParaRPr lang="en-US" sz="834" dirty="0"/>
          </a:p>
        </p:txBody>
      </p:sp>
      <p:sp>
        <p:nvSpPr>
          <p:cNvPr id="11" name="Text 8"/>
          <p:cNvSpPr/>
          <p:nvPr/>
        </p:nvSpPr>
        <p:spPr>
          <a:xfrm>
            <a:off x="1755493" y="1993106"/>
            <a:ext cx="3473732" cy="276820"/>
          </a:xfrm>
          <a:prstGeom prst="rect">
            <a:avLst/>
          </a:prstGeom>
          <a:noFill/>
          <a:ln/>
        </p:spPr>
        <p:txBody>
          <a:bodyPr wrap="square" lIns="8509" tIns="127508" rIns="8509" bIns="8509" rtlCol="0" anchor="ctr">
            <a:spAutoFit/>
          </a:bodyPr>
          <a:lstStyle/>
          <a:p>
            <a:pPr algn="l" indent="0" marL="0">
              <a:lnSpc>
                <a:spcPts val="1100"/>
              </a:lnSpc>
              <a:buNone/>
            </a:pPr>
            <a:r>
              <a:rPr lang="en-US" sz="834" dirty="0">
                <a:solidFill>
                  <a:srgbClr val="E0E0E0"/>
                </a:solidFill>
              </a:rPr>
              <a:t>Qualify leads based on financial and time fit.</a:t>
            </a:r>
            <a:endParaRPr lang="en-US" sz="834" dirty="0"/>
          </a:p>
        </p:txBody>
      </p:sp>
      <p:sp>
        <p:nvSpPr>
          <p:cNvPr id="12" name="Text 9"/>
          <p:cNvSpPr/>
          <p:nvPr/>
        </p:nvSpPr>
        <p:spPr>
          <a:xfrm>
            <a:off x="428625" y="2269927"/>
            <a:ext cx="1326868" cy="276820"/>
          </a:xfrm>
          <a:prstGeom prst="rect">
            <a:avLst/>
          </a:prstGeom>
          <a:noFill/>
          <a:ln/>
        </p:spPr>
        <p:txBody>
          <a:bodyPr wrap="square" lIns="8509" tIns="127508" rIns="8509" bIns="8509" rtlCol="0" anchor="ctr">
            <a:spAutoFit/>
          </a:bodyPr>
          <a:lstStyle/>
          <a:p>
            <a:pPr algn="l" indent="0" marL="0">
              <a:lnSpc>
                <a:spcPts val="1100"/>
              </a:lnSpc>
              <a:buNone/>
            </a:pPr>
            <a:r>
              <a:rPr lang="en-US" sz="834" dirty="0">
                <a:solidFill>
                  <a:srgbClr val="E0E0E0"/>
                </a:solidFill>
              </a:rPr>
              <a:t>Stakeholder Map</a:t>
            </a:r>
            <a:endParaRPr lang="en-US" sz="834" dirty="0"/>
          </a:p>
        </p:txBody>
      </p:sp>
      <p:sp>
        <p:nvSpPr>
          <p:cNvPr id="13" name="Text 10"/>
          <p:cNvSpPr/>
          <p:nvPr/>
        </p:nvSpPr>
        <p:spPr>
          <a:xfrm>
            <a:off x="1755493" y="2269927"/>
            <a:ext cx="3473732" cy="276820"/>
          </a:xfrm>
          <a:prstGeom prst="rect">
            <a:avLst/>
          </a:prstGeom>
          <a:noFill/>
          <a:ln/>
        </p:spPr>
        <p:txBody>
          <a:bodyPr wrap="square" lIns="8509" tIns="127508" rIns="8509" bIns="8509" rtlCol="0" anchor="ctr">
            <a:spAutoFit/>
          </a:bodyPr>
          <a:lstStyle/>
          <a:p>
            <a:pPr algn="l" indent="0" marL="0">
              <a:lnSpc>
                <a:spcPts val="1100"/>
              </a:lnSpc>
              <a:buNone/>
            </a:pPr>
            <a:r>
              <a:rPr lang="en-US" sz="834" dirty="0">
                <a:solidFill>
                  <a:srgbClr val="E0E0E0"/>
                </a:solidFill>
              </a:rPr>
              <a:t>Know who else needs to be in the room.</a:t>
            </a:r>
            <a:endParaRPr lang="en-US" sz="834" dirty="0"/>
          </a:p>
        </p:txBody>
      </p:sp>
      <p:sp>
        <p:nvSpPr>
          <p:cNvPr id="14" name="Text 11"/>
          <p:cNvSpPr/>
          <p:nvPr/>
        </p:nvSpPr>
        <p:spPr>
          <a:xfrm>
            <a:off x="428625" y="2546747"/>
            <a:ext cx="1326868" cy="276820"/>
          </a:xfrm>
          <a:prstGeom prst="rect">
            <a:avLst/>
          </a:prstGeom>
          <a:noFill/>
          <a:ln/>
        </p:spPr>
        <p:txBody>
          <a:bodyPr wrap="square" lIns="8509" tIns="127508" rIns="8509" bIns="8509" rtlCol="0" anchor="ctr">
            <a:spAutoFit/>
          </a:bodyPr>
          <a:lstStyle/>
          <a:p>
            <a:pPr algn="l" indent="0" marL="0">
              <a:lnSpc>
                <a:spcPts val="1100"/>
              </a:lnSpc>
              <a:buNone/>
            </a:pPr>
            <a:r>
              <a:rPr lang="en-US" sz="834" dirty="0">
                <a:solidFill>
                  <a:srgbClr val="E0E0E0"/>
                </a:solidFill>
              </a:rPr>
              <a:t>Pain Point Summary</a:t>
            </a:r>
            <a:endParaRPr lang="en-US" sz="834" dirty="0"/>
          </a:p>
        </p:txBody>
      </p:sp>
      <p:sp>
        <p:nvSpPr>
          <p:cNvPr id="15" name="Text 12"/>
          <p:cNvSpPr/>
          <p:nvPr/>
        </p:nvSpPr>
        <p:spPr>
          <a:xfrm>
            <a:off x="1755493" y="2546747"/>
            <a:ext cx="3473732" cy="276820"/>
          </a:xfrm>
          <a:prstGeom prst="rect">
            <a:avLst/>
          </a:prstGeom>
          <a:noFill/>
          <a:ln/>
        </p:spPr>
        <p:txBody>
          <a:bodyPr wrap="square" lIns="8509" tIns="127508" rIns="8509" bIns="8509" rtlCol="0" anchor="ctr">
            <a:spAutoFit/>
          </a:bodyPr>
          <a:lstStyle/>
          <a:p>
            <a:pPr algn="l" indent="0" marL="0">
              <a:lnSpc>
                <a:spcPts val="1100"/>
              </a:lnSpc>
              <a:buNone/>
            </a:pPr>
            <a:r>
              <a:rPr lang="en-US" sz="834" dirty="0">
                <a:solidFill>
                  <a:srgbClr val="E0E0E0"/>
                </a:solidFill>
              </a:rPr>
              <a:t>Tailor your pitch to their specific frustrations.</a:t>
            </a:r>
            <a:endParaRPr lang="en-US" sz="834" dirty="0"/>
          </a:p>
        </p:txBody>
      </p:sp>
      <p:pic>
        <p:nvPicPr>
          <p:cNvPr id="16" name="Image 1" descr="preencoded.png">    </p:cNvPr>
          <p:cNvPicPr>
            <a:picLocks noChangeAspect="1"/>
          </p:cNvPicPr>
          <p:nvPr/>
        </p:nvPicPr>
        <p:blipFill>
          <a:blip r:embed="rId2"/>
          <a:stretch>
            <a:fillRect/>
          </a:stretch>
        </p:blipFill>
        <p:spPr>
          <a:xfrm>
            <a:off x="5514975" y="1351955"/>
            <a:ext cx="117872" cy="157163"/>
          </a:xfrm>
          <a:prstGeom prst="rect">
            <a:avLst/>
          </a:prstGeom>
        </p:spPr>
      </p:pic>
      <p:sp>
        <p:nvSpPr>
          <p:cNvPr id="17" name="Text 13"/>
          <p:cNvSpPr/>
          <p:nvPr/>
        </p:nvSpPr>
        <p:spPr>
          <a:xfrm>
            <a:off x="5718572" y="1323380"/>
            <a:ext cx="1463046"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Urgency Detection</a:t>
            </a:r>
            <a:endParaRPr lang="en-US" sz="1090" dirty="0"/>
          </a:p>
        </p:txBody>
      </p:sp>
      <p:sp>
        <p:nvSpPr>
          <p:cNvPr id="18" name="Text 14"/>
          <p:cNvSpPr/>
          <p:nvPr/>
        </p:nvSpPr>
        <p:spPr>
          <a:xfrm>
            <a:off x="5514975" y="1594842"/>
            <a:ext cx="3200400"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The system automatically flags leads requiring immediate attention.</a:t>
            </a:r>
            <a:endParaRPr lang="en-US" sz="834" dirty="0"/>
          </a:p>
        </p:txBody>
      </p:sp>
      <p:sp>
        <p:nvSpPr>
          <p:cNvPr id="19" name="Shape 15"/>
          <p:cNvSpPr/>
          <p:nvPr/>
        </p:nvSpPr>
        <p:spPr>
          <a:xfrm>
            <a:off x="5514975" y="2009180"/>
            <a:ext cx="1736350" cy="164306"/>
          </a:xfrm>
          <a:prstGeom prst="rect">
            <a:avLst/>
          </a:prstGeom>
          <a:solidFill>
            <a:srgbClr val="FF6600"/>
          </a:solidFill>
          <a:ln/>
        </p:spPr>
      </p:sp>
      <p:sp>
        <p:nvSpPr>
          <p:cNvPr id="20" name="Text 16"/>
          <p:cNvSpPr/>
          <p:nvPr/>
        </p:nvSpPr>
        <p:spPr>
          <a:xfrm>
            <a:off x="5514975" y="2009180"/>
            <a:ext cx="1736350" cy="164306"/>
          </a:xfrm>
          <a:prstGeom prst="rect">
            <a:avLst/>
          </a:prstGeom>
          <a:noFill/>
          <a:ln/>
        </p:spPr>
        <p:txBody>
          <a:bodyPr wrap="none" lIns="102108" tIns="34036" rIns="102108" bIns="0" rtlCol="0" anchor="t">
            <a:spAutoFit/>
          </a:bodyPr>
          <a:lstStyle/>
          <a:p>
            <a:pPr algn="l" indent="0" marL="0">
              <a:lnSpc>
                <a:spcPts val="900"/>
              </a:lnSpc>
              <a:buNone/>
            </a:pPr>
            <a:r>
              <a:rPr lang="en-US" sz="683" b="1" dirty="0">
                <a:solidFill>
                  <a:srgbClr val="FFFFFF"/>
                </a:solidFill>
              </a:rPr>
              <a:t>URGENT FOLLOW-UP REQUIRED</a:t>
            </a:r>
            <a:endParaRPr lang="en-US" sz="683" dirty="0"/>
          </a:p>
        </p:txBody>
      </p:sp>
      <p:pic>
        <p:nvPicPr>
          <p:cNvPr id="21" name="Image 2" descr="preencoded.png">    </p:cNvPr>
          <p:cNvPicPr>
            <a:picLocks noChangeAspect="1"/>
          </p:cNvPicPr>
          <p:nvPr/>
        </p:nvPicPr>
        <p:blipFill>
          <a:blip r:embed="rId3"/>
          <a:stretch>
            <a:fillRect/>
          </a:stretch>
        </p:blipFill>
        <p:spPr>
          <a:xfrm>
            <a:off x="5514975" y="2384227"/>
            <a:ext cx="117872" cy="157163"/>
          </a:xfrm>
          <a:prstGeom prst="rect">
            <a:avLst/>
          </a:prstGeom>
        </p:spPr>
      </p:pic>
      <p:sp>
        <p:nvSpPr>
          <p:cNvPr id="22" name="Text 17"/>
          <p:cNvSpPr/>
          <p:nvPr/>
        </p:nvSpPr>
        <p:spPr>
          <a:xfrm>
            <a:off x="5718572" y="2355652"/>
            <a:ext cx="113440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Handoff Briefs</a:t>
            </a:r>
            <a:endParaRPr lang="en-US" sz="1090" dirty="0"/>
          </a:p>
        </p:txBody>
      </p:sp>
      <p:sp>
        <p:nvSpPr>
          <p:cNvPr id="23" name="Text 18"/>
          <p:cNvSpPr/>
          <p:nvPr/>
        </p:nvSpPr>
        <p:spPr>
          <a:xfrm>
            <a:off x="5514975" y="2627114"/>
            <a:ext cx="3200400"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Concise summaries including pain points and next steps, so you never start from scratch.</a:t>
            </a:r>
            <a:endParaRPr lang="en-US" sz="834" dirty="0"/>
          </a:p>
        </p:txBody>
      </p:sp>
      <p:pic>
        <p:nvPicPr>
          <p:cNvPr id="24" name="Image 3" descr="preencoded.png">    </p:cNvPr>
          <p:cNvPicPr>
            <a:picLocks noChangeAspect="1"/>
          </p:cNvPicPr>
          <p:nvPr/>
        </p:nvPicPr>
        <p:blipFill>
          <a:blip r:embed="rId4"/>
          <a:stretch>
            <a:fillRect/>
          </a:stretch>
        </p:blipFill>
        <p:spPr>
          <a:xfrm>
            <a:off x="5514975" y="3177183"/>
            <a:ext cx="157163" cy="157163"/>
          </a:xfrm>
          <a:prstGeom prst="rect">
            <a:avLst/>
          </a:prstGeom>
        </p:spPr>
      </p:pic>
      <p:sp>
        <p:nvSpPr>
          <p:cNvPr id="25" name="Text 19"/>
          <p:cNvSpPr/>
          <p:nvPr/>
        </p:nvSpPr>
        <p:spPr>
          <a:xfrm>
            <a:off x="5757863" y="3148608"/>
            <a:ext cx="1003641"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FFFFF"/>
                </a:solidFill>
              </a:rPr>
              <a:t>Lead Scoring</a:t>
            </a:r>
            <a:endParaRPr lang="en-US" sz="1090" dirty="0"/>
          </a:p>
        </p:txBody>
      </p:sp>
      <p:sp>
        <p:nvSpPr>
          <p:cNvPr id="26" name="Text 20"/>
          <p:cNvSpPr/>
          <p:nvPr/>
        </p:nvSpPr>
        <p:spPr>
          <a:xfrm>
            <a:off x="5514975" y="3420070"/>
            <a:ext cx="3200400"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Interest levels and scores assigned based on conversation depth and quality.</a:t>
            </a:r>
            <a:endParaRPr lang="en-US" sz="83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428625"/>
            <a:ext cx="8715375"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6600"/>
                </a:solidFill>
              </a:rPr>
              <a:t>The Handoff: From AI to Human Sales</a:t>
            </a:r>
            <a:endParaRPr lang="en-US" sz="2436" dirty="0"/>
          </a:p>
        </p:txBody>
      </p:sp>
      <p:sp>
        <p:nvSpPr>
          <p:cNvPr id="4" name="Text 1"/>
          <p:cNvSpPr/>
          <p:nvPr/>
        </p:nvSpPr>
        <p:spPr>
          <a:xfrm>
            <a:off x="0" y="894755"/>
            <a:ext cx="9144000" cy="671513"/>
          </a:xfrm>
          <a:prstGeom prst="rect">
            <a:avLst/>
          </a:prstGeom>
          <a:noFill/>
          <a:ln/>
        </p:spPr>
        <p:txBody>
          <a:bodyPr wrap="square" lIns="510286" tIns="255143" rIns="510286" bIns="0" rtlCol="0" anchor="t">
            <a:spAutoFit/>
          </a:bodyPr>
          <a:lstStyle/>
          <a:p>
            <a:pPr algn="l" indent="0" marL="0">
              <a:lnSpc>
                <a:spcPts val="1800"/>
              </a:lnSpc>
              <a:buNone/>
            </a:pPr>
            <a:r>
              <a:rPr lang="en-US" sz="1050" dirty="0">
                <a:solidFill>
                  <a:srgbClr val="E0E0E0"/>
                </a:solidFill>
              </a:rPr>
              <a:t>The agent is the bridge, not the destination. It ensures that when you take over, the lead is fully prepared for a high-value strategic conversation.</a:t>
            </a:r>
            <a:endParaRPr lang="en-US" sz="1050" dirty="0"/>
          </a:p>
        </p:txBody>
      </p:sp>
      <p:sp>
        <p:nvSpPr>
          <p:cNvPr id="5" name="Shape 2"/>
          <p:cNvSpPr/>
          <p:nvPr/>
        </p:nvSpPr>
        <p:spPr>
          <a:xfrm>
            <a:off x="428625" y="1852017"/>
            <a:ext cx="2619356" cy="2378869"/>
          </a:xfrm>
          <a:prstGeom prst="rect">
            <a:avLst/>
          </a:prstGeom>
          <a:solidFill>
            <a:srgbClr val="FFFFFF">
              <a:alpha val="3000"/>
            </a:srgbClr>
          </a:solidFill>
          <a:ln/>
        </p:spPr>
      </p:sp>
      <p:sp>
        <p:nvSpPr>
          <p:cNvPr id="6" name="Shape 3"/>
          <p:cNvSpPr/>
          <p:nvPr/>
        </p:nvSpPr>
        <p:spPr>
          <a:xfrm>
            <a:off x="428625" y="1852017"/>
            <a:ext cx="2619356" cy="21431"/>
          </a:xfrm>
          <a:prstGeom prst="rect">
            <a:avLst/>
          </a:prstGeom>
          <a:solidFill>
            <a:srgbClr val="FF6600"/>
          </a:solidFill>
          <a:ln/>
        </p:spPr>
      </p:sp>
      <p:pic>
        <p:nvPicPr>
          <p:cNvPr id="7" name="Image 1" descr="preencoded.png">    </p:cNvPr>
          <p:cNvPicPr>
            <a:picLocks noChangeAspect="1"/>
          </p:cNvPicPr>
          <p:nvPr/>
        </p:nvPicPr>
        <p:blipFill>
          <a:blip r:embed="rId2"/>
          <a:stretch>
            <a:fillRect/>
          </a:stretch>
        </p:blipFill>
        <p:spPr>
          <a:xfrm>
            <a:off x="607219" y="2121694"/>
            <a:ext cx="250031" cy="285750"/>
          </a:xfrm>
          <a:prstGeom prst="rect">
            <a:avLst/>
          </a:prstGeom>
        </p:spPr>
      </p:pic>
      <p:sp>
        <p:nvSpPr>
          <p:cNvPr id="8" name="Text 4"/>
          <p:cNvSpPr/>
          <p:nvPr/>
        </p:nvSpPr>
        <p:spPr>
          <a:xfrm>
            <a:off x="607219" y="2598539"/>
            <a:ext cx="2262169"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Streamlined Transitions</a:t>
            </a:r>
            <a:endParaRPr lang="en-US" sz="1193" dirty="0"/>
          </a:p>
        </p:txBody>
      </p:sp>
      <p:sp>
        <p:nvSpPr>
          <p:cNvPr id="9" name="Text 5"/>
          <p:cNvSpPr/>
          <p:nvPr/>
        </p:nvSpPr>
        <p:spPr>
          <a:xfrm>
            <a:off x="607219" y="2939653"/>
            <a:ext cx="2262169"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The agent is empowered to book meetings directly into your calendar or initiate professional email introductions, ensuring no momentum is lost.</a:t>
            </a:r>
            <a:endParaRPr lang="en-US" sz="834" dirty="0"/>
          </a:p>
        </p:txBody>
      </p:sp>
      <p:sp>
        <p:nvSpPr>
          <p:cNvPr id="10" name="Shape 6"/>
          <p:cNvSpPr/>
          <p:nvPr/>
        </p:nvSpPr>
        <p:spPr>
          <a:xfrm>
            <a:off x="3262294" y="1852017"/>
            <a:ext cx="2619384" cy="2378869"/>
          </a:xfrm>
          <a:prstGeom prst="rect">
            <a:avLst/>
          </a:prstGeom>
          <a:solidFill>
            <a:srgbClr val="FFFFFF">
              <a:alpha val="3000"/>
            </a:srgbClr>
          </a:solidFill>
          <a:ln/>
        </p:spPr>
      </p:sp>
      <p:sp>
        <p:nvSpPr>
          <p:cNvPr id="11" name="Shape 7"/>
          <p:cNvSpPr/>
          <p:nvPr/>
        </p:nvSpPr>
        <p:spPr>
          <a:xfrm>
            <a:off x="3262294" y="1852017"/>
            <a:ext cx="2619384" cy="21431"/>
          </a:xfrm>
          <a:prstGeom prst="rect">
            <a:avLst/>
          </a:prstGeom>
          <a:solidFill>
            <a:srgbClr val="FF6600"/>
          </a:solidFill>
          <a:ln/>
        </p:spPr>
      </p:sp>
      <p:pic>
        <p:nvPicPr>
          <p:cNvPr id="12" name="Image 2" descr="preencoded.png">    </p:cNvPr>
          <p:cNvPicPr>
            <a:picLocks noChangeAspect="1"/>
          </p:cNvPicPr>
          <p:nvPr/>
        </p:nvPicPr>
        <p:blipFill>
          <a:blip r:embed="rId3"/>
          <a:stretch>
            <a:fillRect/>
          </a:stretch>
        </p:blipFill>
        <p:spPr>
          <a:xfrm>
            <a:off x="3440888" y="2121694"/>
            <a:ext cx="250031" cy="285750"/>
          </a:xfrm>
          <a:prstGeom prst="rect">
            <a:avLst/>
          </a:prstGeom>
        </p:spPr>
      </p:pic>
      <p:sp>
        <p:nvSpPr>
          <p:cNvPr id="13" name="Text 8"/>
          <p:cNvSpPr/>
          <p:nvPr/>
        </p:nvSpPr>
        <p:spPr>
          <a:xfrm>
            <a:off x="3440888" y="2598539"/>
            <a:ext cx="2262197"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Data-Backed Success</a:t>
            </a:r>
            <a:endParaRPr lang="en-US" sz="1193" dirty="0"/>
          </a:p>
        </p:txBody>
      </p:sp>
      <p:sp>
        <p:nvSpPr>
          <p:cNvPr id="14" name="Text 9"/>
          <p:cNvSpPr/>
          <p:nvPr/>
        </p:nvSpPr>
        <p:spPr>
          <a:xfrm>
            <a:off x="3440888" y="2939653"/>
            <a:ext cx="2262197"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You are armed with the lead's budget, timeline, and key stakeholders before the first call, allowing for a much more strategic and informed approach.</a:t>
            </a:r>
            <a:endParaRPr lang="en-US" sz="834" dirty="0"/>
          </a:p>
        </p:txBody>
      </p:sp>
      <p:sp>
        <p:nvSpPr>
          <p:cNvPr id="15" name="Shape 10"/>
          <p:cNvSpPr/>
          <p:nvPr/>
        </p:nvSpPr>
        <p:spPr>
          <a:xfrm>
            <a:off x="6095991" y="1852017"/>
            <a:ext cx="2619356" cy="2378869"/>
          </a:xfrm>
          <a:prstGeom prst="rect">
            <a:avLst/>
          </a:prstGeom>
          <a:solidFill>
            <a:srgbClr val="FFFFFF">
              <a:alpha val="3000"/>
            </a:srgbClr>
          </a:solidFill>
          <a:ln/>
        </p:spPr>
      </p:sp>
      <p:sp>
        <p:nvSpPr>
          <p:cNvPr id="16" name="Shape 11"/>
          <p:cNvSpPr/>
          <p:nvPr/>
        </p:nvSpPr>
        <p:spPr>
          <a:xfrm>
            <a:off x="6095991" y="1852017"/>
            <a:ext cx="2619356" cy="21431"/>
          </a:xfrm>
          <a:prstGeom prst="rect">
            <a:avLst/>
          </a:prstGeom>
          <a:solidFill>
            <a:srgbClr val="FF6600"/>
          </a:solidFill>
          <a:ln/>
        </p:spPr>
      </p:sp>
      <p:pic>
        <p:nvPicPr>
          <p:cNvPr id="17" name="Image 3" descr="preencoded.png">    </p:cNvPr>
          <p:cNvPicPr>
            <a:picLocks noChangeAspect="1"/>
          </p:cNvPicPr>
          <p:nvPr/>
        </p:nvPicPr>
        <p:blipFill>
          <a:blip r:embed="rId4"/>
          <a:stretch>
            <a:fillRect/>
          </a:stretch>
        </p:blipFill>
        <p:spPr>
          <a:xfrm>
            <a:off x="6274584" y="2121694"/>
            <a:ext cx="357188" cy="285750"/>
          </a:xfrm>
          <a:prstGeom prst="rect">
            <a:avLst/>
          </a:prstGeom>
        </p:spPr>
      </p:pic>
      <p:sp>
        <p:nvSpPr>
          <p:cNvPr id="18" name="Text 12"/>
          <p:cNvSpPr/>
          <p:nvPr/>
        </p:nvSpPr>
        <p:spPr>
          <a:xfrm>
            <a:off x="6274584" y="2598539"/>
            <a:ext cx="2262169"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Optimized Conversion</a:t>
            </a:r>
            <a:endParaRPr lang="en-US" sz="1193" dirty="0"/>
          </a:p>
        </p:txBody>
      </p:sp>
      <p:sp>
        <p:nvSpPr>
          <p:cNvPr id="19" name="Text 13"/>
          <p:cNvSpPr/>
          <p:nvPr/>
        </p:nvSpPr>
        <p:spPr>
          <a:xfrm>
            <a:off x="6274584" y="2939653"/>
            <a:ext cx="2262169"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0E0E0"/>
                </a:solidFill>
              </a:rPr>
              <a:t>By the time you speak to the lead, they are already warmed up, qualified, and expect a high-value conversation with a Biz Group expert.</a:t>
            </a:r>
            <a:endParaRPr lang="en-US" sz="83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428625"/>
            <a:ext cx="8715375"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6600"/>
                </a:solidFill>
              </a:rPr>
              <a:t>Benefits to the Sales Team: More Wins, Less Admin</a:t>
            </a:r>
            <a:endParaRPr lang="en-US" sz="2436" dirty="0"/>
          </a:p>
        </p:txBody>
      </p:sp>
      <p:sp>
        <p:nvSpPr>
          <p:cNvPr id="4" name="Text 1"/>
          <p:cNvSpPr/>
          <p:nvPr/>
        </p:nvSpPr>
        <p:spPr>
          <a:xfrm>
            <a:off x="0" y="894755"/>
            <a:ext cx="9144000" cy="600075"/>
          </a:xfrm>
          <a:prstGeom prst="rect">
            <a:avLst/>
          </a:prstGeom>
          <a:noFill/>
          <a:ln/>
        </p:spPr>
        <p:txBody>
          <a:bodyPr wrap="square" lIns="510286" tIns="170053" rIns="510286" bIns="0" rtlCol="0" anchor="t">
            <a:spAutoFit/>
          </a:bodyPr>
          <a:lstStyle/>
          <a:p>
            <a:pPr algn="l" indent="0" marL="0">
              <a:lnSpc>
                <a:spcPts val="1800"/>
              </a:lnSpc>
              <a:buNone/>
            </a:pPr>
            <a:r>
              <a:rPr lang="en-US" sz="1050" dirty="0">
                <a:solidFill>
                  <a:srgbClr val="E0E0E0"/>
                </a:solidFill>
              </a:rPr>
              <a:t>This tool is designed to reclaim your time, allowing you to focus on high-value closing activities while the AI handles the heavy lifting of initial discovery.</a:t>
            </a:r>
            <a:endParaRPr lang="en-US" sz="1050" dirty="0"/>
          </a:p>
        </p:txBody>
      </p:sp>
      <p:sp>
        <p:nvSpPr>
          <p:cNvPr id="5" name="Shape 2"/>
          <p:cNvSpPr/>
          <p:nvPr/>
        </p:nvSpPr>
        <p:spPr>
          <a:xfrm>
            <a:off x="428625" y="1709142"/>
            <a:ext cx="2666991" cy="2307431"/>
          </a:xfrm>
          <a:prstGeom prst="rect">
            <a:avLst/>
          </a:prstGeom>
          <a:solidFill>
            <a:srgbClr val="FFFFFF">
              <a:alpha val="3000"/>
            </a:srgbClr>
          </a:solidFill>
          <a:ln/>
        </p:spPr>
      </p:sp>
      <p:sp>
        <p:nvSpPr>
          <p:cNvPr id="6" name="Shape 3"/>
          <p:cNvSpPr/>
          <p:nvPr/>
        </p:nvSpPr>
        <p:spPr>
          <a:xfrm>
            <a:off x="428625" y="1709142"/>
            <a:ext cx="2666991" cy="21431"/>
          </a:xfrm>
          <a:prstGeom prst="rect">
            <a:avLst/>
          </a:prstGeom>
          <a:solidFill>
            <a:srgbClr val="FF6600"/>
          </a:solidFill>
          <a:ln/>
        </p:spPr>
      </p:sp>
      <p:pic>
        <p:nvPicPr>
          <p:cNvPr id="7" name="Image 1" descr="preencoded.png">    </p:cNvPr>
          <p:cNvPicPr>
            <a:picLocks noChangeAspect="1"/>
          </p:cNvPicPr>
          <p:nvPr/>
        </p:nvPicPr>
        <p:blipFill>
          <a:blip r:embed="rId2"/>
          <a:stretch>
            <a:fillRect/>
          </a:stretch>
        </p:blipFill>
        <p:spPr>
          <a:xfrm>
            <a:off x="607219" y="1907381"/>
            <a:ext cx="285750" cy="285750"/>
          </a:xfrm>
          <a:prstGeom prst="rect">
            <a:avLst/>
          </a:prstGeom>
        </p:spPr>
      </p:pic>
      <p:sp>
        <p:nvSpPr>
          <p:cNvPr id="8" name="Text 4"/>
          <p:cNvSpPr/>
          <p:nvPr/>
        </p:nvSpPr>
        <p:spPr>
          <a:xfrm>
            <a:off x="607219" y="2327077"/>
            <a:ext cx="230980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Focus on Closing</a:t>
            </a:r>
            <a:endParaRPr lang="en-US" sz="1193" dirty="0"/>
          </a:p>
        </p:txBody>
      </p:sp>
      <p:sp>
        <p:nvSpPr>
          <p:cNvPr id="9" name="Text 5"/>
          <p:cNvSpPr/>
          <p:nvPr/>
        </p:nvSpPr>
        <p:spPr>
          <a:xfrm>
            <a:off x="607219" y="2653903"/>
            <a:ext cx="1970084"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Reclaim your calendar for high-value</a:t>
            </a:r>
            <a:endParaRPr lang="en-US" sz="834" dirty="0"/>
          </a:p>
        </p:txBody>
      </p:sp>
      <p:sp>
        <p:nvSpPr>
          <p:cNvPr id="10" name="Text 6"/>
          <p:cNvSpPr/>
          <p:nvPr/>
        </p:nvSpPr>
        <p:spPr>
          <a:xfrm>
            <a:off x="607219" y="2825353"/>
            <a:ext cx="497914"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activities:</a:t>
            </a:r>
            <a:endParaRPr lang="en-US" sz="834" dirty="0"/>
          </a:p>
        </p:txBody>
      </p:sp>
      <p:sp>
        <p:nvSpPr>
          <p:cNvPr id="11" name="Text 7"/>
          <p:cNvSpPr/>
          <p:nvPr/>
        </p:nvSpPr>
        <p:spPr>
          <a:xfrm>
            <a:off x="892969" y="3146822"/>
            <a:ext cx="2024053"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0% time on "cold" follow-ups</a:t>
            </a:r>
            <a:endParaRPr lang="en-US" sz="834" dirty="0"/>
          </a:p>
        </p:txBody>
      </p:sp>
      <p:sp>
        <p:nvSpPr>
          <p:cNvPr id="12" name="Text 8"/>
          <p:cNvSpPr/>
          <p:nvPr/>
        </p:nvSpPr>
        <p:spPr>
          <a:xfrm>
            <a:off x="892969" y="3361134"/>
            <a:ext cx="2024053"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100% focus on qualified leads</a:t>
            </a:r>
            <a:endParaRPr lang="en-US" sz="834" dirty="0"/>
          </a:p>
        </p:txBody>
      </p:sp>
      <p:sp>
        <p:nvSpPr>
          <p:cNvPr id="13" name="Text 9"/>
          <p:cNvSpPr/>
          <p:nvPr/>
        </p:nvSpPr>
        <p:spPr>
          <a:xfrm>
            <a:off x="892969" y="3575447"/>
            <a:ext cx="2024053"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Eliminate lead decay entirely</a:t>
            </a:r>
            <a:endParaRPr lang="en-US" sz="834" dirty="0"/>
          </a:p>
        </p:txBody>
      </p:sp>
      <p:sp>
        <p:nvSpPr>
          <p:cNvPr id="14" name="Shape 10"/>
          <p:cNvSpPr/>
          <p:nvPr/>
        </p:nvSpPr>
        <p:spPr>
          <a:xfrm>
            <a:off x="3238491" y="1709142"/>
            <a:ext cx="2666991" cy="2307431"/>
          </a:xfrm>
          <a:prstGeom prst="rect">
            <a:avLst/>
          </a:prstGeom>
          <a:solidFill>
            <a:srgbClr val="FFFFFF">
              <a:alpha val="3000"/>
            </a:srgbClr>
          </a:solidFill>
          <a:ln/>
        </p:spPr>
      </p:sp>
      <p:sp>
        <p:nvSpPr>
          <p:cNvPr id="15" name="Shape 11"/>
          <p:cNvSpPr/>
          <p:nvPr/>
        </p:nvSpPr>
        <p:spPr>
          <a:xfrm>
            <a:off x="3238491" y="1709142"/>
            <a:ext cx="2666991" cy="21431"/>
          </a:xfrm>
          <a:prstGeom prst="rect">
            <a:avLst/>
          </a:prstGeom>
          <a:solidFill>
            <a:srgbClr val="FF6600"/>
          </a:solidFill>
          <a:ln/>
        </p:spPr>
      </p:sp>
      <p:pic>
        <p:nvPicPr>
          <p:cNvPr id="16" name="Image 2" descr="preencoded.png">    </p:cNvPr>
          <p:cNvPicPr>
            <a:picLocks noChangeAspect="1"/>
          </p:cNvPicPr>
          <p:nvPr/>
        </p:nvPicPr>
        <p:blipFill>
          <a:blip r:embed="rId3"/>
          <a:stretch>
            <a:fillRect/>
          </a:stretch>
        </p:blipFill>
        <p:spPr>
          <a:xfrm>
            <a:off x="3417084" y="1907381"/>
            <a:ext cx="285750" cy="285750"/>
          </a:xfrm>
          <a:prstGeom prst="rect">
            <a:avLst/>
          </a:prstGeom>
        </p:spPr>
      </p:pic>
      <p:sp>
        <p:nvSpPr>
          <p:cNvPr id="17" name="Text 12"/>
          <p:cNvSpPr/>
          <p:nvPr/>
        </p:nvSpPr>
        <p:spPr>
          <a:xfrm>
            <a:off x="3417084" y="2327077"/>
            <a:ext cx="2309803"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Data-Driven Strategy</a:t>
            </a:r>
            <a:endParaRPr lang="en-US" sz="1193" dirty="0"/>
          </a:p>
        </p:txBody>
      </p:sp>
      <p:sp>
        <p:nvSpPr>
          <p:cNvPr id="18" name="Text 13"/>
          <p:cNvSpPr/>
          <p:nvPr/>
        </p:nvSpPr>
        <p:spPr>
          <a:xfrm>
            <a:off x="3417084" y="2653903"/>
            <a:ext cx="2054330"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Enter every call with deep intelligence:</a:t>
            </a:r>
            <a:endParaRPr lang="en-US" sz="834" dirty="0"/>
          </a:p>
        </p:txBody>
      </p:sp>
      <p:sp>
        <p:nvSpPr>
          <p:cNvPr id="19" name="Text 14"/>
          <p:cNvSpPr/>
          <p:nvPr/>
        </p:nvSpPr>
        <p:spPr>
          <a:xfrm>
            <a:off x="3702834" y="2975372"/>
            <a:ext cx="2024053"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Tailored pitches from the start</a:t>
            </a:r>
            <a:endParaRPr lang="en-US" sz="834" dirty="0"/>
          </a:p>
        </p:txBody>
      </p:sp>
      <p:sp>
        <p:nvSpPr>
          <p:cNvPr id="20" name="Text 15"/>
          <p:cNvSpPr/>
          <p:nvPr/>
        </p:nvSpPr>
        <p:spPr>
          <a:xfrm>
            <a:off x="3702834" y="3189684"/>
            <a:ext cx="2024053"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Pre-identified pain points</a:t>
            </a:r>
            <a:endParaRPr lang="en-US" sz="834" dirty="0"/>
          </a:p>
        </p:txBody>
      </p:sp>
      <p:sp>
        <p:nvSpPr>
          <p:cNvPr id="21" name="Text 16"/>
          <p:cNvSpPr/>
          <p:nvPr/>
        </p:nvSpPr>
        <p:spPr>
          <a:xfrm>
            <a:off x="3702834" y="3403997"/>
            <a:ext cx="2024053"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Clear objection summaries</a:t>
            </a:r>
            <a:endParaRPr lang="en-US" sz="834" dirty="0"/>
          </a:p>
        </p:txBody>
      </p:sp>
      <p:sp>
        <p:nvSpPr>
          <p:cNvPr id="22" name="Shape 17"/>
          <p:cNvSpPr/>
          <p:nvPr/>
        </p:nvSpPr>
        <p:spPr>
          <a:xfrm>
            <a:off x="6048356" y="1709142"/>
            <a:ext cx="2667019" cy="2307431"/>
          </a:xfrm>
          <a:prstGeom prst="rect">
            <a:avLst/>
          </a:prstGeom>
          <a:solidFill>
            <a:srgbClr val="FFFFFF">
              <a:alpha val="3000"/>
            </a:srgbClr>
          </a:solidFill>
          <a:ln/>
        </p:spPr>
      </p:sp>
      <p:sp>
        <p:nvSpPr>
          <p:cNvPr id="23" name="Shape 18"/>
          <p:cNvSpPr/>
          <p:nvPr/>
        </p:nvSpPr>
        <p:spPr>
          <a:xfrm>
            <a:off x="6048356" y="1709142"/>
            <a:ext cx="2667019" cy="21431"/>
          </a:xfrm>
          <a:prstGeom prst="rect">
            <a:avLst/>
          </a:prstGeom>
          <a:solidFill>
            <a:srgbClr val="FF6600"/>
          </a:solidFill>
          <a:ln/>
        </p:spPr>
      </p:sp>
      <p:pic>
        <p:nvPicPr>
          <p:cNvPr id="24" name="Image 3" descr="preencoded.png">    </p:cNvPr>
          <p:cNvPicPr>
            <a:picLocks noChangeAspect="1"/>
          </p:cNvPicPr>
          <p:nvPr/>
        </p:nvPicPr>
        <p:blipFill>
          <a:blip r:embed="rId4"/>
          <a:stretch>
            <a:fillRect/>
          </a:stretch>
        </p:blipFill>
        <p:spPr>
          <a:xfrm>
            <a:off x="6226950" y="1907381"/>
            <a:ext cx="285750" cy="285750"/>
          </a:xfrm>
          <a:prstGeom prst="rect">
            <a:avLst/>
          </a:prstGeom>
        </p:spPr>
      </p:pic>
      <p:sp>
        <p:nvSpPr>
          <p:cNvPr id="25" name="Text 19"/>
          <p:cNvSpPr/>
          <p:nvPr/>
        </p:nvSpPr>
        <p:spPr>
          <a:xfrm>
            <a:off x="6226950" y="2327077"/>
            <a:ext cx="2309831"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rPr>
              <a:t>Scalable Growth</a:t>
            </a:r>
            <a:endParaRPr lang="en-US" sz="1193" dirty="0"/>
          </a:p>
        </p:txBody>
      </p:sp>
      <p:sp>
        <p:nvSpPr>
          <p:cNvPr id="26" name="Text 20"/>
          <p:cNvSpPr/>
          <p:nvPr/>
        </p:nvSpPr>
        <p:spPr>
          <a:xfrm>
            <a:off x="6226950" y="2653903"/>
            <a:ext cx="2095574"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Scale your impact without the burnout:</a:t>
            </a:r>
            <a:endParaRPr lang="en-US" sz="834" dirty="0"/>
          </a:p>
        </p:txBody>
      </p:sp>
      <p:sp>
        <p:nvSpPr>
          <p:cNvPr id="27" name="Text 21"/>
          <p:cNvSpPr/>
          <p:nvPr/>
        </p:nvSpPr>
        <p:spPr>
          <a:xfrm>
            <a:off x="6512700" y="2975372"/>
            <a:ext cx="2024081"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Handle unlimited lead volume</a:t>
            </a:r>
            <a:endParaRPr lang="en-US" sz="834" dirty="0"/>
          </a:p>
        </p:txBody>
      </p:sp>
      <p:sp>
        <p:nvSpPr>
          <p:cNvPr id="28" name="Text 22"/>
          <p:cNvSpPr/>
          <p:nvPr/>
        </p:nvSpPr>
        <p:spPr>
          <a:xfrm>
            <a:off x="6512700" y="3189684"/>
            <a:ext cx="2024081"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Reduced administrative burden</a:t>
            </a:r>
            <a:endParaRPr lang="en-US" sz="834" dirty="0"/>
          </a:p>
        </p:txBody>
      </p:sp>
      <p:sp>
        <p:nvSpPr>
          <p:cNvPr id="29" name="Text 23"/>
          <p:cNvSpPr/>
          <p:nvPr/>
        </p:nvSpPr>
        <p:spPr>
          <a:xfrm>
            <a:off x="6512700" y="3403997"/>
            <a:ext cx="2024081"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0E0E0"/>
                </a:solidFill>
              </a:rPr>
              <a:t>Consistent qualification standards</a:t>
            </a:r>
            <a:endParaRPr lang="en-US" sz="83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428625"/>
            <a:ext cx="8715375" cy="46613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6600"/>
                </a:solidFill>
              </a:rPr>
              <a:t>Summary and Next Steps</a:t>
            </a:r>
            <a:endParaRPr lang="en-US" sz="2436" dirty="0"/>
          </a:p>
        </p:txBody>
      </p:sp>
      <p:sp>
        <p:nvSpPr>
          <p:cNvPr id="4" name="Text 1"/>
          <p:cNvSpPr/>
          <p:nvPr/>
        </p:nvSpPr>
        <p:spPr>
          <a:xfrm>
            <a:off x="1357313" y="1109067"/>
            <a:ext cx="6429375" cy="840088"/>
          </a:xfrm>
          <a:prstGeom prst="rect">
            <a:avLst/>
          </a:prstGeom>
          <a:noFill/>
          <a:ln/>
        </p:spPr>
        <p:txBody>
          <a:bodyPr wrap="square" lIns="0" tIns="0" rIns="0" bIns="0" rtlCol="0" anchor="t">
            <a:spAutoFit/>
          </a:bodyPr>
          <a:lstStyle/>
          <a:p>
            <a:pPr algn="ctr" indent="0" marL="0">
              <a:lnSpc>
                <a:spcPts val="2200"/>
              </a:lnSpc>
              <a:buNone/>
            </a:pPr>
            <a:r>
              <a:rPr lang="en-US" sz="1486" dirty="0">
                <a:solidFill>
                  <a:srgbClr val="E0E0E0"/>
                </a:solidFill>
              </a:rPr>
              <a:t>The AI Sales Discovery Agent is a strategic partner designed to make the Biz Group sales team faster, smarter, and more effective in a competitive market.</a:t>
            </a:r>
            <a:endParaRPr lang="en-US" sz="1486" dirty="0"/>
          </a:p>
        </p:txBody>
      </p:sp>
      <p:sp>
        <p:nvSpPr>
          <p:cNvPr id="5" name="Shape 2"/>
          <p:cNvSpPr/>
          <p:nvPr/>
        </p:nvSpPr>
        <p:spPr>
          <a:xfrm>
            <a:off x="428625" y="2163468"/>
            <a:ext cx="2647931" cy="1593056"/>
          </a:xfrm>
          <a:prstGeom prst="rect">
            <a:avLst/>
          </a:prstGeom>
          <a:solidFill>
            <a:srgbClr val="FFFFFF">
              <a:alpha val="3000"/>
            </a:srgbClr>
          </a:solidFill>
          <a:ln/>
        </p:spPr>
      </p:sp>
      <p:sp>
        <p:nvSpPr>
          <p:cNvPr id="6" name="Shape 3"/>
          <p:cNvSpPr/>
          <p:nvPr/>
        </p:nvSpPr>
        <p:spPr>
          <a:xfrm>
            <a:off x="428625" y="2163468"/>
            <a:ext cx="2647931" cy="21431"/>
          </a:xfrm>
          <a:prstGeom prst="rect">
            <a:avLst/>
          </a:prstGeom>
          <a:solidFill>
            <a:srgbClr val="FF6600"/>
          </a:solidFill>
          <a:ln/>
        </p:spPr>
      </p:sp>
      <p:pic>
        <p:nvPicPr>
          <p:cNvPr id="7" name="Image 1" descr="preencoded.png">    </p:cNvPr>
          <p:cNvPicPr>
            <a:picLocks noChangeAspect="1"/>
          </p:cNvPicPr>
          <p:nvPr/>
        </p:nvPicPr>
        <p:blipFill>
          <a:blip r:embed="rId2"/>
          <a:stretch>
            <a:fillRect/>
          </a:stretch>
        </p:blipFill>
        <p:spPr>
          <a:xfrm>
            <a:off x="1609716" y="2361707"/>
            <a:ext cx="285750" cy="285750"/>
          </a:xfrm>
          <a:prstGeom prst="rect">
            <a:avLst/>
          </a:prstGeom>
        </p:spPr>
      </p:pic>
      <p:sp>
        <p:nvSpPr>
          <p:cNvPr id="8" name="Text 4"/>
          <p:cNvSpPr/>
          <p:nvPr/>
        </p:nvSpPr>
        <p:spPr>
          <a:xfrm>
            <a:off x="571500" y="2809977"/>
            <a:ext cx="2362181"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FFFFFF"/>
                </a:solidFill>
              </a:rPr>
              <a:t>Immediate Impact</a:t>
            </a:r>
            <a:endParaRPr lang="en-US" sz="1090" dirty="0"/>
          </a:p>
        </p:txBody>
      </p:sp>
      <p:sp>
        <p:nvSpPr>
          <p:cNvPr id="9" name="Text 5"/>
          <p:cNvSpPr/>
          <p:nvPr/>
        </p:nvSpPr>
        <p:spPr>
          <a:xfrm>
            <a:off x="571500" y="3110015"/>
            <a:ext cx="2362181" cy="51435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E0E0E0"/>
                </a:solidFill>
              </a:rPr>
              <a:t>The agent is live and processing website leads today, ensuring no opportunity is missed regardless of the time of day.</a:t>
            </a:r>
            <a:endParaRPr lang="en-US" sz="834" dirty="0"/>
          </a:p>
        </p:txBody>
      </p:sp>
      <p:sp>
        <p:nvSpPr>
          <p:cNvPr id="10" name="Shape 6"/>
          <p:cNvSpPr/>
          <p:nvPr/>
        </p:nvSpPr>
        <p:spPr>
          <a:xfrm>
            <a:off x="3248006" y="2163468"/>
            <a:ext cx="2647959" cy="1593056"/>
          </a:xfrm>
          <a:prstGeom prst="rect">
            <a:avLst/>
          </a:prstGeom>
          <a:solidFill>
            <a:srgbClr val="FFFFFF">
              <a:alpha val="3000"/>
            </a:srgbClr>
          </a:solidFill>
          <a:ln/>
        </p:spPr>
      </p:sp>
      <p:sp>
        <p:nvSpPr>
          <p:cNvPr id="11" name="Shape 7"/>
          <p:cNvSpPr/>
          <p:nvPr/>
        </p:nvSpPr>
        <p:spPr>
          <a:xfrm>
            <a:off x="3248006" y="2163468"/>
            <a:ext cx="2647959" cy="21431"/>
          </a:xfrm>
          <a:prstGeom prst="rect">
            <a:avLst/>
          </a:prstGeom>
          <a:solidFill>
            <a:srgbClr val="FF6600"/>
          </a:solidFill>
          <a:ln/>
        </p:spPr>
      </p:sp>
      <p:pic>
        <p:nvPicPr>
          <p:cNvPr id="12" name="Image 2" descr="preencoded.png">    </p:cNvPr>
          <p:cNvPicPr>
            <a:picLocks noChangeAspect="1"/>
          </p:cNvPicPr>
          <p:nvPr/>
        </p:nvPicPr>
        <p:blipFill>
          <a:blip r:embed="rId3"/>
          <a:stretch>
            <a:fillRect/>
          </a:stretch>
        </p:blipFill>
        <p:spPr>
          <a:xfrm>
            <a:off x="4393378" y="2361707"/>
            <a:ext cx="357188" cy="285750"/>
          </a:xfrm>
          <a:prstGeom prst="rect">
            <a:avLst/>
          </a:prstGeom>
        </p:spPr>
      </p:pic>
      <p:sp>
        <p:nvSpPr>
          <p:cNvPr id="13" name="Text 8"/>
          <p:cNvSpPr/>
          <p:nvPr/>
        </p:nvSpPr>
        <p:spPr>
          <a:xfrm>
            <a:off x="3390881" y="2809977"/>
            <a:ext cx="2362209"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FFFFFF"/>
                </a:solidFill>
              </a:rPr>
              <a:t>Feedback Loop</a:t>
            </a:r>
            <a:endParaRPr lang="en-US" sz="1090" dirty="0"/>
          </a:p>
        </p:txBody>
      </p:sp>
      <p:sp>
        <p:nvSpPr>
          <p:cNvPr id="14" name="Text 9"/>
          <p:cNvSpPr/>
          <p:nvPr/>
        </p:nvSpPr>
        <p:spPr>
          <a:xfrm>
            <a:off x="3390881" y="3110015"/>
            <a:ext cx="2362209" cy="51435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E0E0E0"/>
                </a:solidFill>
              </a:rPr>
              <a:t>Your input on lead quality is essential; we will use your insights to further refine the agent's discovery questions.</a:t>
            </a:r>
            <a:endParaRPr lang="en-US" sz="834" dirty="0"/>
          </a:p>
        </p:txBody>
      </p:sp>
      <p:sp>
        <p:nvSpPr>
          <p:cNvPr id="15" name="Shape 10"/>
          <p:cNvSpPr/>
          <p:nvPr/>
        </p:nvSpPr>
        <p:spPr>
          <a:xfrm>
            <a:off x="6067416" y="2163468"/>
            <a:ext cx="2647931" cy="1593056"/>
          </a:xfrm>
          <a:prstGeom prst="rect">
            <a:avLst/>
          </a:prstGeom>
          <a:solidFill>
            <a:srgbClr val="FFFFFF">
              <a:alpha val="3000"/>
            </a:srgbClr>
          </a:solidFill>
          <a:ln/>
        </p:spPr>
      </p:sp>
      <p:sp>
        <p:nvSpPr>
          <p:cNvPr id="16" name="Shape 11"/>
          <p:cNvSpPr/>
          <p:nvPr/>
        </p:nvSpPr>
        <p:spPr>
          <a:xfrm>
            <a:off x="6067416" y="2163468"/>
            <a:ext cx="2647931" cy="21431"/>
          </a:xfrm>
          <a:prstGeom prst="rect">
            <a:avLst/>
          </a:prstGeom>
          <a:solidFill>
            <a:srgbClr val="FF6600"/>
          </a:solidFill>
          <a:ln/>
        </p:spPr>
      </p:sp>
      <p:pic>
        <p:nvPicPr>
          <p:cNvPr id="17" name="Image 3" descr="preencoded.png">    </p:cNvPr>
          <p:cNvPicPr>
            <a:picLocks noChangeAspect="1"/>
          </p:cNvPicPr>
          <p:nvPr/>
        </p:nvPicPr>
        <p:blipFill>
          <a:blip r:embed="rId4"/>
          <a:stretch>
            <a:fillRect/>
          </a:stretch>
        </p:blipFill>
        <p:spPr>
          <a:xfrm>
            <a:off x="7212788" y="2361707"/>
            <a:ext cx="357188" cy="285750"/>
          </a:xfrm>
          <a:prstGeom prst="rect">
            <a:avLst/>
          </a:prstGeom>
        </p:spPr>
      </p:pic>
      <p:sp>
        <p:nvSpPr>
          <p:cNvPr id="18" name="Text 12"/>
          <p:cNvSpPr/>
          <p:nvPr/>
        </p:nvSpPr>
        <p:spPr>
          <a:xfrm>
            <a:off x="6210291" y="2809977"/>
            <a:ext cx="2362181" cy="214313"/>
          </a:xfrm>
          <a:prstGeom prst="rect">
            <a:avLst/>
          </a:prstGeom>
          <a:noFill/>
          <a:ln/>
        </p:spPr>
        <p:txBody>
          <a:bodyPr wrap="none" lIns="0" tIns="0" rIns="0" bIns="0" rtlCol="0" anchor="t">
            <a:spAutoFit/>
          </a:bodyPr>
          <a:lstStyle/>
          <a:p>
            <a:pPr algn="ctr" indent="0" marL="0">
              <a:lnSpc>
                <a:spcPts val="1500"/>
              </a:lnSpc>
              <a:buNone/>
            </a:pPr>
            <a:r>
              <a:rPr lang="en-US" sz="1090" b="1" dirty="0">
                <a:solidFill>
                  <a:srgbClr val="FFFFFF"/>
                </a:solidFill>
              </a:rPr>
              <a:t>Winning Together</a:t>
            </a:r>
            <a:endParaRPr lang="en-US" sz="1090" dirty="0"/>
          </a:p>
        </p:txBody>
      </p:sp>
      <p:sp>
        <p:nvSpPr>
          <p:cNvPr id="19" name="Text 13"/>
          <p:cNvSpPr/>
          <p:nvPr/>
        </p:nvSpPr>
        <p:spPr>
          <a:xfrm>
            <a:off x="6210291" y="3110015"/>
            <a:ext cx="2362181" cy="514350"/>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E0E0E0"/>
                </a:solidFill>
              </a:rPr>
              <a:t>This tool is built to support your growth, allowing you to focus 100% on closing high-value, qualified prospects.</a:t>
            </a:r>
            <a:endParaRPr lang="en-US" sz="834" dirty="0"/>
          </a:p>
        </p:txBody>
      </p:sp>
      <p:sp>
        <p:nvSpPr>
          <p:cNvPr id="20" name="Text 14"/>
          <p:cNvSpPr/>
          <p:nvPr/>
        </p:nvSpPr>
        <p:spPr>
          <a:xfrm>
            <a:off x="0" y="4825603"/>
            <a:ext cx="9144000" cy="175022"/>
          </a:xfrm>
          <a:prstGeom prst="rect">
            <a:avLst/>
          </a:prstGeom>
          <a:noFill/>
          <a:ln/>
        </p:spPr>
        <p:txBody>
          <a:bodyPr wrap="none" lIns="0" tIns="0" rIns="0" bIns="0" rtlCol="0" anchor="t">
            <a:spAutoFit/>
          </a:bodyPr>
          <a:lstStyle/>
          <a:p>
            <a:pPr algn="ctr" indent="0" marL="0">
              <a:lnSpc>
                <a:spcPts val="1200"/>
              </a:lnSpc>
              <a:buNone/>
            </a:pPr>
            <a:r>
              <a:rPr lang="en-US" sz="885" b="1" spc="1" kern="0" dirty="0">
                <a:solidFill>
                  <a:srgbClr val="FF6600"/>
                </a:solidFill>
              </a:rPr>
              <a:t>READY FOR LAUNCH | BIZ GROUP SALES EMPOWERMENT</a:t>
            </a:r>
            <a:endParaRPr lang="en-US" sz="88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2026-02-17T05:40:27Z</dcterms:created>
  <dcterms:modified xsi:type="dcterms:W3CDTF">2026-02-17T05:40:27Z</dcterms:modified>
</cp:coreProperties>
</file>